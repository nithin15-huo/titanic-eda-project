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84" r:id="rId11"/>
    <p:sldId id="285" r:id="rId12"/>
    <p:sldId id="286" r:id="rId13"/>
    <p:sldId id="287" r:id="rId14"/>
    <p:sldId id="288" r:id="rId15"/>
    <p:sldId id="289" r:id="rId16"/>
    <p:sldId id="290" r:id="rId17"/>
    <p:sldId id="266" r:id="rId18"/>
    <p:sldId id="267" r:id="rId19"/>
    <p:sldId id="268" r:id="rId20"/>
    <p:sldId id="269" r:id="rId21"/>
    <p:sldId id="270" r:id="rId22"/>
    <p:sldId id="273" r:id="rId23"/>
    <p:sldId id="274" r:id="rId24"/>
    <p:sldId id="278" r:id="rId25"/>
    <p:sldId id="279" r:id="rId26"/>
    <p:sldId id="280" r:id="rId27"/>
    <p:sldId id="281" r:id="rId28"/>
    <p:sldId id="282" r:id="rId29"/>
    <p:sldId id="283" r:id="rId30"/>
    <p:sldId id="275" r:id="rId31"/>
    <p:sldId id="276" r:id="rId32"/>
    <p:sldId id="271" r:id="rId33"/>
    <p:sldId id="272" r:id="rId34"/>
    <p:sldId id="277" r:id="rId35"/>
    <p:sldId id="29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vya ummadipoli" initials="su" lastIdx="1" clrIdx="0">
    <p:extLst>
      <p:ext uri="{19B8F6BF-5375-455C-9EA6-DF929625EA0E}">
        <p15:presenceInfo xmlns:p15="http://schemas.microsoft.com/office/powerpoint/2012/main" userId="cba1030a9f671d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3741" autoAdjust="0"/>
  </p:normalViewPr>
  <p:slideViewPr>
    <p:cSldViewPr snapToGrid="0">
      <p:cViewPr varScale="1">
        <p:scale>
          <a:sx n="54" d="100"/>
          <a:sy n="54" d="100"/>
        </p:scale>
        <p:origin x="79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D3D38-C081-142C-3014-7E0D7AD1CF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BE96C31-C5AB-A48B-C7B2-E16C1D3AD74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DC3C20D-5549-518F-7882-220C2E2FEEF7}"/>
              </a:ext>
            </a:extLst>
          </p:cNvPr>
          <p:cNvSpPr>
            <a:spLocks noGrp="1"/>
          </p:cNvSpPr>
          <p:nvPr>
            <p:ph type="dt" sz="half" idx="10"/>
          </p:nvPr>
        </p:nvSpPr>
        <p:spPr/>
        <p:txBody>
          <a:bodyPr/>
          <a:lstStyle/>
          <a:p>
            <a:fld id="{7DDC0B9C-4374-4FAC-820D-999AD98567DD}" type="datetimeFigureOut">
              <a:rPr lang="en-IN" smtClean="0"/>
              <a:t>23-02-26</a:t>
            </a:fld>
            <a:endParaRPr lang="en-IN"/>
          </a:p>
        </p:txBody>
      </p:sp>
      <p:sp>
        <p:nvSpPr>
          <p:cNvPr id="5" name="Footer Placeholder 4">
            <a:extLst>
              <a:ext uri="{FF2B5EF4-FFF2-40B4-BE49-F238E27FC236}">
                <a16:creationId xmlns:a16="http://schemas.microsoft.com/office/drawing/2014/main" id="{09F72657-D5AD-010B-DD62-0E1BCA840C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D07757-ED57-FB3D-0A9F-B52B43BC4736}"/>
              </a:ext>
            </a:extLst>
          </p:cNvPr>
          <p:cNvSpPr>
            <a:spLocks noGrp="1"/>
          </p:cNvSpPr>
          <p:nvPr>
            <p:ph type="sldNum" sz="quarter" idx="12"/>
          </p:nvPr>
        </p:nvSpPr>
        <p:spPr/>
        <p:txBody>
          <a:bodyPr/>
          <a:lstStyle/>
          <a:p>
            <a:fld id="{8BC76A42-7882-409E-B519-9F5DE013B796}" type="slidenum">
              <a:rPr lang="en-IN" smtClean="0"/>
              <a:t>‹#›</a:t>
            </a:fld>
            <a:endParaRPr lang="en-IN"/>
          </a:p>
        </p:txBody>
      </p:sp>
    </p:spTree>
    <p:extLst>
      <p:ext uri="{BB962C8B-B14F-4D97-AF65-F5344CB8AC3E}">
        <p14:creationId xmlns:p14="http://schemas.microsoft.com/office/powerpoint/2010/main" val="4142654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68C43-E848-FD21-287D-139317943C4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68CEA2-221A-30C0-5DFC-4E1A8B4544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E217EA-E93B-7119-EF77-05E2BED8AFDF}"/>
              </a:ext>
            </a:extLst>
          </p:cNvPr>
          <p:cNvSpPr>
            <a:spLocks noGrp="1"/>
          </p:cNvSpPr>
          <p:nvPr>
            <p:ph type="dt" sz="half" idx="10"/>
          </p:nvPr>
        </p:nvSpPr>
        <p:spPr/>
        <p:txBody>
          <a:bodyPr/>
          <a:lstStyle/>
          <a:p>
            <a:fld id="{7DDC0B9C-4374-4FAC-820D-999AD98567DD}" type="datetimeFigureOut">
              <a:rPr lang="en-IN" smtClean="0"/>
              <a:t>23-02-26</a:t>
            </a:fld>
            <a:endParaRPr lang="en-IN"/>
          </a:p>
        </p:txBody>
      </p:sp>
      <p:sp>
        <p:nvSpPr>
          <p:cNvPr id="5" name="Footer Placeholder 4">
            <a:extLst>
              <a:ext uri="{FF2B5EF4-FFF2-40B4-BE49-F238E27FC236}">
                <a16:creationId xmlns:a16="http://schemas.microsoft.com/office/drawing/2014/main" id="{85B8132B-987D-2F43-6EE1-DA571083C3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01C00C-16FC-C653-A98A-B070A3AD69AE}"/>
              </a:ext>
            </a:extLst>
          </p:cNvPr>
          <p:cNvSpPr>
            <a:spLocks noGrp="1"/>
          </p:cNvSpPr>
          <p:nvPr>
            <p:ph type="sldNum" sz="quarter" idx="12"/>
          </p:nvPr>
        </p:nvSpPr>
        <p:spPr/>
        <p:txBody>
          <a:bodyPr/>
          <a:lstStyle/>
          <a:p>
            <a:fld id="{8BC76A42-7882-409E-B519-9F5DE013B796}" type="slidenum">
              <a:rPr lang="en-IN" smtClean="0"/>
              <a:t>‹#›</a:t>
            </a:fld>
            <a:endParaRPr lang="en-IN"/>
          </a:p>
        </p:txBody>
      </p:sp>
    </p:spTree>
    <p:extLst>
      <p:ext uri="{BB962C8B-B14F-4D97-AF65-F5344CB8AC3E}">
        <p14:creationId xmlns:p14="http://schemas.microsoft.com/office/powerpoint/2010/main" val="1937844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B73C1-4930-F645-EB5C-FB886AD50C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6975F4A-4958-FA09-B42D-9576BA8AAB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5CDF44-77A7-8BE9-77EE-D8CDADBB728B}"/>
              </a:ext>
            </a:extLst>
          </p:cNvPr>
          <p:cNvSpPr>
            <a:spLocks noGrp="1"/>
          </p:cNvSpPr>
          <p:nvPr>
            <p:ph type="dt" sz="half" idx="10"/>
          </p:nvPr>
        </p:nvSpPr>
        <p:spPr/>
        <p:txBody>
          <a:bodyPr/>
          <a:lstStyle/>
          <a:p>
            <a:fld id="{7DDC0B9C-4374-4FAC-820D-999AD98567DD}" type="datetimeFigureOut">
              <a:rPr lang="en-IN" smtClean="0"/>
              <a:t>23-02-26</a:t>
            </a:fld>
            <a:endParaRPr lang="en-IN"/>
          </a:p>
        </p:txBody>
      </p:sp>
      <p:sp>
        <p:nvSpPr>
          <p:cNvPr id="5" name="Footer Placeholder 4">
            <a:extLst>
              <a:ext uri="{FF2B5EF4-FFF2-40B4-BE49-F238E27FC236}">
                <a16:creationId xmlns:a16="http://schemas.microsoft.com/office/drawing/2014/main" id="{3C03FCA8-7FA6-E910-F250-E6F0CB9EE5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1D1A3D-4479-977D-A88D-57E833E6FC2F}"/>
              </a:ext>
            </a:extLst>
          </p:cNvPr>
          <p:cNvSpPr>
            <a:spLocks noGrp="1"/>
          </p:cNvSpPr>
          <p:nvPr>
            <p:ph type="sldNum" sz="quarter" idx="12"/>
          </p:nvPr>
        </p:nvSpPr>
        <p:spPr/>
        <p:txBody>
          <a:bodyPr/>
          <a:lstStyle/>
          <a:p>
            <a:fld id="{8BC76A42-7882-409E-B519-9F5DE013B796}" type="slidenum">
              <a:rPr lang="en-IN" smtClean="0"/>
              <a:t>‹#›</a:t>
            </a:fld>
            <a:endParaRPr lang="en-IN"/>
          </a:p>
        </p:txBody>
      </p:sp>
    </p:spTree>
    <p:extLst>
      <p:ext uri="{BB962C8B-B14F-4D97-AF65-F5344CB8AC3E}">
        <p14:creationId xmlns:p14="http://schemas.microsoft.com/office/powerpoint/2010/main" val="3070307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AF891-D46D-E785-FA70-EB0AFB10039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40CD18-688F-3694-C43E-9B71C762BD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919FA9B-DFC4-A0F2-0111-7A5B135F33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ED109E0-F257-22CE-AD46-9476DDFA6963}"/>
              </a:ext>
            </a:extLst>
          </p:cNvPr>
          <p:cNvSpPr>
            <a:spLocks noGrp="1"/>
          </p:cNvSpPr>
          <p:nvPr>
            <p:ph type="dt" sz="half" idx="10"/>
          </p:nvPr>
        </p:nvSpPr>
        <p:spPr/>
        <p:txBody>
          <a:bodyPr/>
          <a:lstStyle/>
          <a:p>
            <a:fld id="{7DDC0B9C-4374-4FAC-820D-999AD98567DD}" type="datetimeFigureOut">
              <a:rPr lang="en-IN" smtClean="0"/>
              <a:t>23-02-26</a:t>
            </a:fld>
            <a:endParaRPr lang="en-IN"/>
          </a:p>
        </p:txBody>
      </p:sp>
      <p:sp>
        <p:nvSpPr>
          <p:cNvPr id="6" name="Footer Placeholder 5">
            <a:extLst>
              <a:ext uri="{FF2B5EF4-FFF2-40B4-BE49-F238E27FC236}">
                <a16:creationId xmlns:a16="http://schemas.microsoft.com/office/drawing/2014/main" id="{E1BE4B3E-FB09-7AC3-97CB-1D998D0C4C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7F5275-3961-9E2E-AEC2-CC162831F651}"/>
              </a:ext>
            </a:extLst>
          </p:cNvPr>
          <p:cNvSpPr>
            <a:spLocks noGrp="1"/>
          </p:cNvSpPr>
          <p:nvPr>
            <p:ph type="sldNum" sz="quarter" idx="12"/>
          </p:nvPr>
        </p:nvSpPr>
        <p:spPr/>
        <p:txBody>
          <a:bodyPr/>
          <a:lstStyle/>
          <a:p>
            <a:fld id="{8BC76A42-7882-409E-B519-9F5DE013B796}" type="slidenum">
              <a:rPr lang="en-IN" smtClean="0"/>
              <a:t>‹#›</a:t>
            </a:fld>
            <a:endParaRPr lang="en-IN"/>
          </a:p>
        </p:txBody>
      </p:sp>
    </p:spTree>
    <p:extLst>
      <p:ext uri="{BB962C8B-B14F-4D97-AF65-F5344CB8AC3E}">
        <p14:creationId xmlns:p14="http://schemas.microsoft.com/office/powerpoint/2010/main" val="3106126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CF591-E71E-E965-D6A2-0539E77BB2D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1ADE0A0-659D-CBAC-2241-2768BEF432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E40809-3C17-940F-459C-419F331232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6CD9C9A-1D07-9F7C-F731-64CF14402E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151294-1B8D-FF67-2D74-207F5990A5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EBDC89E-BFDD-2690-97AF-DB498B55C397}"/>
              </a:ext>
            </a:extLst>
          </p:cNvPr>
          <p:cNvSpPr>
            <a:spLocks noGrp="1"/>
          </p:cNvSpPr>
          <p:nvPr>
            <p:ph type="dt" sz="half" idx="10"/>
          </p:nvPr>
        </p:nvSpPr>
        <p:spPr/>
        <p:txBody>
          <a:bodyPr/>
          <a:lstStyle/>
          <a:p>
            <a:fld id="{7DDC0B9C-4374-4FAC-820D-999AD98567DD}" type="datetimeFigureOut">
              <a:rPr lang="en-IN" smtClean="0"/>
              <a:t>23-02-26</a:t>
            </a:fld>
            <a:endParaRPr lang="en-IN"/>
          </a:p>
        </p:txBody>
      </p:sp>
      <p:sp>
        <p:nvSpPr>
          <p:cNvPr id="8" name="Footer Placeholder 7">
            <a:extLst>
              <a:ext uri="{FF2B5EF4-FFF2-40B4-BE49-F238E27FC236}">
                <a16:creationId xmlns:a16="http://schemas.microsoft.com/office/drawing/2014/main" id="{5296BB37-8D7A-010F-4664-90CD639E970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32C14A-1F74-6A06-24B1-2BCE4E13B364}"/>
              </a:ext>
            </a:extLst>
          </p:cNvPr>
          <p:cNvSpPr>
            <a:spLocks noGrp="1"/>
          </p:cNvSpPr>
          <p:nvPr>
            <p:ph type="sldNum" sz="quarter" idx="12"/>
          </p:nvPr>
        </p:nvSpPr>
        <p:spPr/>
        <p:txBody>
          <a:bodyPr/>
          <a:lstStyle/>
          <a:p>
            <a:fld id="{8BC76A42-7882-409E-B519-9F5DE013B796}" type="slidenum">
              <a:rPr lang="en-IN" smtClean="0"/>
              <a:t>‹#›</a:t>
            </a:fld>
            <a:endParaRPr lang="en-IN"/>
          </a:p>
        </p:txBody>
      </p:sp>
    </p:spTree>
    <p:extLst>
      <p:ext uri="{BB962C8B-B14F-4D97-AF65-F5344CB8AC3E}">
        <p14:creationId xmlns:p14="http://schemas.microsoft.com/office/powerpoint/2010/main" val="1414034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2529F-F31C-DCAA-D726-6403A58A5EB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2E37F2A-9336-45BB-B6B0-0182FA2A22E4}"/>
              </a:ext>
            </a:extLst>
          </p:cNvPr>
          <p:cNvSpPr>
            <a:spLocks noGrp="1"/>
          </p:cNvSpPr>
          <p:nvPr>
            <p:ph type="dt" sz="half" idx="10"/>
          </p:nvPr>
        </p:nvSpPr>
        <p:spPr/>
        <p:txBody>
          <a:bodyPr/>
          <a:lstStyle/>
          <a:p>
            <a:fld id="{7DDC0B9C-4374-4FAC-820D-999AD98567DD}" type="datetimeFigureOut">
              <a:rPr lang="en-IN" smtClean="0"/>
              <a:t>23-02-26</a:t>
            </a:fld>
            <a:endParaRPr lang="en-IN"/>
          </a:p>
        </p:txBody>
      </p:sp>
      <p:sp>
        <p:nvSpPr>
          <p:cNvPr id="4" name="Footer Placeholder 3">
            <a:extLst>
              <a:ext uri="{FF2B5EF4-FFF2-40B4-BE49-F238E27FC236}">
                <a16:creationId xmlns:a16="http://schemas.microsoft.com/office/drawing/2014/main" id="{35E17F2C-EE94-426F-D3DE-2B025792EA0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BE98EC4-10CC-3FE1-E65E-3EF28A9B3B2E}"/>
              </a:ext>
            </a:extLst>
          </p:cNvPr>
          <p:cNvSpPr>
            <a:spLocks noGrp="1"/>
          </p:cNvSpPr>
          <p:nvPr>
            <p:ph type="sldNum" sz="quarter" idx="12"/>
          </p:nvPr>
        </p:nvSpPr>
        <p:spPr/>
        <p:txBody>
          <a:bodyPr/>
          <a:lstStyle/>
          <a:p>
            <a:fld id="{8BC76A42-7882-409E-B519-9F5DE013B796}" type="slidenum">
              <a:rPr lang="en-IN" smtClean="0"/>
              <a:t>‹#›</a:t>
            </a:fld>
            <a:endParaRPr lang="en-IN"/>
          </a:p>
        </p:txBody>
      </p:sp>
    </p:spTree>
    <p:extLst>
      <p:ext uri="{BB962C8B-B14F-4D97-AF65-F5344CB8AC3E}">
        <p14:creationId xmlns:p14="http://schemas.microsoft.com/office/powerpoint/2010/main" val="2597893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C090F1-2819-1729-A467-E26B929F99DE}"/>
              </a:ext>
            </a:extLst>
          </p:cNvPr>
          <p:cNvSpPr>
            <a:spLocks noGrp="1"/>
          </p:cNvSpPr>
          <p:nvPr>
            <p:ph type="dt" sz="half" idx="10"/>
          </p:nvPr>
        </p:nvSpPr>
        <p:spPr/>
        <p:txBody>
          <a:bodyPr/>
          <a:lstStyle/>
          <a:p>
            <a:fld id="{7DDC0B9C-4374-4FAC-820D-999AD98567DD}" type="datetimeFigureOut">
              <a:rPr lang="en-IN" smtClean="0"/>
              <a:t>23-02-26</a:t>
            </a:fld>
            <a:endParaRPr lang="en-IN"/>
          </a:p>
        </p:txBody>
      </p:sp>
      <p:sp>
        <p:nvSpPr>
          <p:cNvPr id="3" name="Footer Placeholder 2">
            <a:extLst>
              <a:ext uri="{FF2B5EF4-FFF2-40B4-BE49-F238E27FC236}">
                <a16:creationId xmlns:a16="http://schemas.microsoft.com/office/drawing/2014/main" id="{FEBFD349-DB5D-EFC6-7306-84041D6386F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CC5EDED-B8BF-728E-6822-A84B1DECABE6}"/>
              </a:ext>
            </a:extLst>
          </p:cNvPr>
          <p:cNvSpPr>
            <a:spLocks noGrp="1"/>
          </p:cNvSpPr>
          <p:nvPr>
            <p:ph type="sldNum" sz="quarter" idx="12"/>
          </p:nvPr>
        </p:nvSpPr>
        <p:spPr/>
        <p:txBody>
          <a:bodyPr/>
          <a:lstStyle/>
          <a:p>
            <a:fld id="{8BC76A42-7882-409E-B519-9F5DE013B796}" type="slidenum">
              <a:rPr lang="en-IN" smtClean="0"/>
              <a:t>‹#›</a:t>
            </a:fld>
            <a:endParaRPr lang="en-IN"/>
          </a:p>
        </p:txBody>
      </p:sp>
    </p:spTree>
    <p:extLst>
      <p:ext uri="{BB962C8B-B14F-4D97-AF65-F5344CB8AC3E}">
        <p14:creationId xmlns:p14="http://schemas.microsoft.com/office/powerpoint/2010/main" val="553091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8F87-6358-CCDC-E197-53C292E8E6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3897637-9DE2-97CC-525D-1658CCC36F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54A87E5-8DB8-664A-FB0E-650359CE22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F1BE95-4251-4D90-18DE-AE2B9D739D3A}"/>
              </a:ext>
            </a:extLst>
          </p:cNvPr>
          <p:cNvSpPr>
            <a:spLocks noGrp="1"/>
          </p:cNvSpPr>
          <p:nvPr>
            <p:ph type="dt" sz="half" idx="10"/>
          </p:nvPr>
        </p:nvSpPr>
        <p:spPr/>
        <p:txBody>
          <a:bodyPr/>
          <a:lstStyle/>
          <a:p>
            <a:fld id="{7DDC0B9C-4374-4FAC-820D-999AD98567DD}" type="datetimeFigureOut">
              <a:rPr lang="en-IN" smtClean="0"/>
              <a:t>23-02-26</a:t>
            </a:fld>
            <a:endParaRPr lang="en-IN"/>
          </a:p>
        </p:txBody>
      </p:sp>
      <p:sp>
        <p:nvSpPr>
          <p:cNvPr id="6" name="Footer Placeholder 5">
            <a:extLst>
              <a:ext uri="{FF2B5EF4-FFF2-40B4-BE49-F238E27FC236}">
                <a16:creationId xmlns:a16="http://schemas.microsoft.com/office/drawing/2014/main" id="{CB68F786-54DF-A21D-E636-BFCB05864E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4D2BA8-0DBA-00AF-7257-5629EE22AB42}"/>
              </a:ext>
            </a:extLst>
          </p:cNvPr>
          <p:cNvSpPr>
            <a:spLocks noGrp="1"/>
          </p:cNvSpPr>
          <p:nvPr>
            <p:ph type="sldNum" sz="quarter" idx="12"/>
          </p:nvPr>
        </p:nvSpPr>
        <p:spPr/>
        <p:txBody>
          <a:bodyPr/>
          <a:lstStyle/>
          <a:p>
            <a:fld id="{8BC76A42-7882-409E-B519-9F5DE013B796}" type="slidenum">
              <a:rPr lang="en-IN" smtClean="0"/>
              <a:t>‹#›</a:t>
            </a:fld>
            <a:endParaRPr lang="en-IN"/>
          </a:p>
        </p:txBody>
      </p:sp>
    </p:spTree>
    <p:extLst>
      <p:ext uri="{BB962C8B-B14F-4D97-AF65-F5344CB8AC3E}">
        <p14:creationId xmlns:p14="http://schemas.microsoft.com/office/powerpoint/2010/main" val="6234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4402D-9E16-3CE3-E1C6-FB4C65C5B0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9C10415-AE7A-42BB-68B2-27FA126C07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BE42D33-4CE8-96A5-4AED-E088D5C537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63AF6A-1298-2531-74C7-F77D53DF6436}"/>
              </a:ext>
            </a:extLst>
          </p:cNvPr>
          <p:cNvSpPr>
            <a:spLocks noGrp="1"/>
          </p:cNvSpPr>
          <p:nvPr>
            <p:ph type="dt" sz="half" idx="10"/>
          </p:nvPr>
        </p:nvSpPr>
        <p:spPr/>
        <p:txBody>
          <a:bodyPr/>
          <a:lstStyle/>
          <a:p>
            <a:fld id="{7DDC0B9C-4374-4FAC-820D-999AD98567DD}" type="datetimeFigureOut">
              <a:rPr lang="en-IN" smtClean="0"/>
              <a:t>23-02-26</a:t>
            </a:fld>
            <a:endParaRPr lang="en-IN"/>
          </a:p>
        </p:txBody>
      </p:sp>
      <p:sp>
        <p:nvSpPr>
          <p:cNvPr id="6" name="Footer Placeholder 5">
            <a:extLst>
              <a:ext uri="{FF2B5EF4-FFF2-40B4-BE49-F238E27FC236}">
                <a16:creationId xmlns:a16="http://schemas.microsoft.com/office/drawing/2014/main" id="{F72724C4-E670-1D41-8C4E-4179FF35F49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A3D3FFF-0274-D128-FAF7-0FCDE4A9AB57}"/>
              </a:ext>
            </a:extLst>
          </p:cNvPr>
          <p:cNvSpPr>
            <a:spLocks noGrp="1"/>
          </p:cNvSpPr>
          <p:nvPr>
            <p:ph type="sldNum" sz="quarter" idx="12"/>
          </p:nvPr>
        </p:nvSpPr>
        <p:spPr/>
        <p:txBody>
          <a:bodyPr/>
          <a:lstStyle/>
          <a:p>
            <a:fld id="{8BC76A42-7882-409E-B519-9F5DE013B796}" type="slidenum">
              <a:rPr lang="en-IN" smtClean="0"/>
              <a:t>‹#›</a:t>
            </a:fld>
            <a:endParaRPr lang="en-IN"/>
          </a:p>
        </p:txBody>
      </p:sp>
    </p:spTree>
    <p:extLst>
      <p:ext uri="{BB962C8B-B14F-4D97-AF65-F5344CB8AC3E}">
        <p14:creationId xmlns:p14="http://schemas.microsoft.com/office/powerpoint/2010/main" val="270318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8D804-28A4-7B34-9A4D-6128A5EEF62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0A576DC-C19F-8F4A-4814-CECE266EAC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59C5F1-5B0B-8599-4FDA-A2922C1416BD}"/>
              </a:ext>
            </a:extLst>
          </p:cNvPr>
          <p:cNvSpPr>
            <a:spLocks noGrp="1"/>
          </p:cNvSpPr>
          <p:nvPr>
            <p:ph type="dt" sz="half" idx="10"/>
          </p:nvPr>
        </p:nvSpPr>
        <p:spPr/>
        <p:txBody>
          <a:bodyPr/>
          <a:lstStyle/>
          <a:p>
            <a:fld id="{7DDC0B9C-4374-4FAC-820D-999AD98567DD}" type="datetimeFigureOut">
              <a:rPr lang="en-IN" smtClean="0"/>
              <a:t>23-02-26</a:t>
            </a:fld>
            <a:endParaRPr lang="en-IN"/>
          </a:p>
        </p:txBody>
      </p:sp>
      <p:sp>
        <p:nvSpPr>
          <p:cNvPr id="5" name="Footer Placeholder 4">
            <a:extLst>
              <a:ext uri="{FF2B5EF4-FFF2-40B4-BE49-F238E27FC236}">
                <a16:creationId xmlns:a16="http://schemas.microsoft.com/office/drawing/2014/main" id="{3F3E486E-E322-2633-6F81-0488D711D6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512127-D2C0-3CA3-A353-3F2947122EBF}"/>
              </a:ext>
            </a:extLst>
          </p:cNvPr>
          <p:cNvSpPr>
            <a:spLocks noGrp="1"/>
          </p:cNvSpPr>
          <p:nvPr>
            <p:ph type="sldNum" sz="quarter" idx="12"/>
          </p:nvPr>
        </p:nvSpPr>
        <p:spPr/>
        <p:txBody>
          <a:bodyPr/>
          <a:lstStyle/>
          <a:p>
            <a:fld id="{8BC76A42-7882-409E-B519-9F5DE013B796}" type="slidenum">
              <a:rPr lang="en-IN" smtClean="0"/>
              <a:t>‹#›</a:t>
            </a:fld>
            <a:endParaRPr lang="en-IN"/>
          </a:p>
        </p:txBody>
      </p:sp>
    </p:spTree>
    <p:extLst>
      <p:ext uri="{BB962C8B-B14F-4D97-AF65-F5344CB8AC3E}">
        <p14:creationId xmlns:p14="http://schemas.microsoft.com/office/powerpoint/2010/main" val="574812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8071CF-1435-C90E-8007-CE52724CA93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244FA5-3999-4D40-6A52-0EED33F9DC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8CFE85-AAD4-1B2F-7169-1F3DC0E2F7F8}"/>
              </a:ext>
            </a:extLst>
          </p:cNvPr>
          <p:cNvSpPr>
            <a:spLocks noGrp="1"/>
          </p:cNvSpPr>
          <p:nvPr>
            <p:ph type="dt" sz="half" idx="10"/>
          </p:nvPr>
        </p:nvSpPr>
        <p:spPr/>
        <p:txBody>
          <a:bodyPr/>
          <a:lstStyle/>
          <a:p>
            <a:fld id="{7DDC0B9C-4374-4FAC-820D-999AD98567DD}" type="datetimeFigureOut">
              <a:rPr lang="en-IN" smtClean="0"/>
              <a:t>23-02-26</a:t>
            </a:fld>
            <a:endParaRPr lang="en-IN"/>
          </a:p>
        </p:txBody>
      </p:sp>
      <p:sp>
        <p:nvSpPr>
          <p:cNvPr id="5" name="Footer Placeholder 4">
            <a:extLst>
              <a:ext uri="{FF2B5EF4-FFF2-40B4-BE49-F238E27FC236}">
                <a16:creationId xmlns:a16="http://schemas.microsoft.com/office/drawing/2014/main" id="{53DA19F3-A990-AC86-35C4-B6CF06D9CA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32B822-DA4A-4FE5-DE67-420EA614DFAA}"/>
              </a:ext>
            </a:extLst>
          </p:cNvPr>
          <p:cNvSpPr>
            <a:spLocks noGrp="1"/>
          </p:cNvSpPr>
          <p:nvPr>
            <p:ph type="sldNum" sz="quarter" idx="12"/>
          </p:nvPr>
        </p:nvSpPr>
        <p:spPr/>
        <p:txBody>
          <a:bodyPr/>
          <a:lstStyle/>
          <a:p>
            <a:fld id="{8BC76A42-7882-409E-B519-9F5DE013B796}" type="slidenum">
              <a:rPr lang="en-IN" smtClean="0"/>
              <a:t>‹#›</a:t>
            </a:fld>
            <a:endParaRPr lang="en-IN"/>
          </a:p>
        </p:txBody>
      </p:sp>
    </p:spTree>
    <p:extLst>
      <p:ext uri="{BB962C8B-B14F-4D97-AF65-F5344CB8AC3E}">
        <p14:creationId xmlns:p14="http://schemas.microsoft.com/office/powerpoint/2010/main" val="3228401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9F556B-981D-AEAA-99A3-CCB91BE15E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AE687F8-C873-41C5-6949-71537FA0DE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115A95-F306-AE10-AC3C-72036968D7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DC0B9C-4374-4FAC-820D-999AD98567DD}" type="datetimeFigureOut">
              <a:rPr lang="en-IN" smtClean="0"/>
              <a:t>23-02-26</a:t>
            </a:fld>
            <a:endParaRPr lang="en-IN"/>
          </a:p>
        </p:txBody>
      </p:sp>
      <p:sp>
        <p:nvSpPr>
          <p:cNvPr id="5" name="Footer Placeholder 4">
            <a:extLst>
              <a:ext uri="{FF2B5EF4-FFF2-40B4-BE49-F238E27FC236}">
                <a16:creationId xmlns:a16="http://schemas.microsoft.com/office/drawing/2014/main" id="{32982D73-434A-8FF8-034A-C980521868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3076BD5-3A82-B915-4D8A-8C0F2D7E42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C76A42-7882-409E-B519-9F5DE013B796}" type="slidenum">
              <a:rPr lang="en-IN" smtClean="0"/>
              <a:t>‹#›</a:t>
            </a:fld>
            <a:endParaRPr lang="en-IN"/>
          </a:p>
        </p:txBody>
      </p:sp>
    </p:spTree>
    <p:extLst>
      <p:ext uri="{BB962C8B-B14F-4D97-AF65-F5344CB8AC3E}">
        <p14:creationId xmlns:p14="http://schemas.microsoft.com/office/powerpoint/2010/main" val="27152586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hyperlink" Target="http://localhost:8888/notebooks/Downloads/EDA(PROJECT)%20(2).ipynb#1.Handle-Missing-Data" TargetMode="Externa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2">
            <a:extLst>
              <a:ext uri="{FF2B5EF4-FFF2-40B4-BE49-F238E27FC236}">
                <a16:creationId xmlns:a16="http://schemas.microsoft.com/office/drawing/2014/main" id="{48C82466-1B56-82A1-8B62-C61593393D6A}"/>
              </a:ext>
            </a:extLst>
          </p:cNvPr>
          <p:cNvPicPr/>
          <p:nvPr/>
        </p:nvPicPr>
        <p:blipFill>
          <a:blip r:embed="rId2" cstate="print"/>
          <a:stretch>
            <a:fillRect/>
          </a:stretch>
        </p:blipFill>
        <p:spPr>
          <a:xfrm>
            <a:off x="0" y="0"/>
            <a:ext cx="8454658" cy="1951348"/>
          </a:xfrm>
          <a:prstGeom prst="rect">
            <a:avLst/>
          </a:prstGeom>
        </p:spPr>
      </p:pic>
      <p:sp>
        <p:nvSpPr>
          <p:cNvPr id="5" name="Rectangle 4">
            <a:extLst>
              <a:ext uri="{FF2B5EF4-FFF2-40B4-BE49-F238E27FC236}">
                <a16:creationId xmlns:a16="http://schemas.microsoft.com/office/drawing/2014/main" id="{B0762662-FA90-F069-04E9-584FFBE9E506}"/>
              </a:ext>
            </a:extLst>
          </p:cNvPr>
          <p:cNvSpPr/>
          <p:nvPr/>
        </p:nvSpPr>
        <p:spPr>
          <a:xfrm>
            <a:off x="1026342" y="2903168"/>
            <a:ext cx="10235215" cy="2923877"/>
          </a:xfrm>
          <a:prstGeom prst="rect">
            <a:avLst/>
          </a:prstGeom>
          <a:noFill/>
        </p:spPr>
        <p:txBody>
          <a:bodyPr wrap="square" lIns="91440" tIns="45720" rIns="91440" bIns="45720">
            <a:spAutoFit/>
          </a:bodyPr>
          <a:lstStyle/>
          <a:p>
            <a:pPr fontAlgn="base"/>
            <a:r>
              <a:rPr lang="en-US" sz="4400" b="1" dirty="0">
                <a:latin typeface="Times New Roman" panose="02020603050405020304" pitchFamily="18" charset="0"/>
                <a:cs typeface="Times New Roman" panose="02020603050405020304" pitchFamily="18" charset="0"/>
              </a:rPr>
              <a:t>Unlocking the Story Behind the Numbers</a:t>
            </a:r>
          </a:p>
          <a:p>
            <a:pPr algn="ctr" fontAlgn="base"/>
            <a:r>
              <a:rPr lang="en-US" sz="3200" dirty="0">
                <a:latin typeface="Times New Roman" panose="02020603050405020304" pitchFamily="18" charset="0"/>
                <a:cs typeface="Times New Roman" panose="02020603050405020304" pitchFamily="18" charset="0"/>
              </a:rPr>
              <a:t>Dive Into Titanic’s Passenger Stories</a:t>
            </a:r>
          </a:p>
          <a:p>
            <a:br>
              <a:rPr lang="en-US" sz="5400" dirty="0"/>
            </a:br>
            <a:endParaRPr lang="en-US" sz="5400" b="0" cap="none" spc="0" dirty="0">
              <a:ln w="0"/>
              <a:solidFill>
                <a:schemeClr val="tx1"/>
              </a:solidFill>
              <a:effectLst>
                <a:outerShdw blurRad="38100" dist="19050" dir="2700000" algn="tl" rotWithShape="0">
                  <a:schemeClr val="dk1">
                    <a:alpha val="40000"/>
                  </a:schemeClr>
                </a:outerShdw>
              </a:effectLst>
            </a:endParaRPr>
          </a:p>
        </p:txBody>
      </p:sp>
      <p:pic>
        <p:nvPicPr>
          <p:cNvPr id="6" name="Picture 5">
            <a:extLst>
              <a:ext uri="{FF2B5EF4-FFF2-40B4-BE49-F238E27FC236}">
                <a16:creationId xmlns:a16="http://schemas.microsoft.com/office/drawing/2014/main" id="{BCEC26B8-78BD-6A79-B97F-C8EAF36CB7C0}"/>
              </a:ext>
            </a:extLst>
          </p:cNvPr>
          <p:cNvPicPr>
            <a:picLocks noChangeAspect="1"/>
          </p:cNvPicPr>
          <p:nvPr/>
        </p:nvPicPr>
        <p:blipFill>
          <a:blip r:embed="rId3"/>
          <a:stretch>
            <a:fillRect/>
          </a:stretch>
        </p:blipFill>
        <p:spPr>
          <a:xfrm>
            <a:off x="8454657" y="4365106"/>
            <a:ext cx="3246805" cy="1637733"/>
          </a:xfrm>
          <a:prstGeom prst="rect">
            <a:avLst/>
          </a:prstGeom>
        </p:spPr>
      </p:pic>
      <p:sp>
        <p:nvSpPr>
          <p:cNvPr id="2" name="Rectangle 1">
            <a:extLst>
              <a:ext uri="{FF2B5EF4-FFF2-40B4-BE49-F238E27FC236}">
                <a16:creationId xmlns:a16="http://schemas.microsoft.com/office/drawing/2014/main" id="{10BF4379-BA4B-710D-A37B-38E69A901F66}"/>
              </a:ext>
            </a:extLst>
          </p:cNvPr>
          <p:cNvSpPr/>
          <p:nvPr/>
        </p:nvSpPr>
        <p:spPr>
          <a:xfrm>
            <a:off x="5523587" y="4103496"/>
            <a:ext cx="620362" cy="523220"/>
          </a:xfrm>
          <a:prstGeom prst="rect">
            <a:avLst/>
          </a:prstGeom>
          <a:noFill/>
        </p:spPr>
        <p:txBody>
          <a:bodyPr wrap="none" lIns="91440" tIns="45720" rIns="91440" bIns="45720">
            <a:spAutoFit/>
          </a:bodyPr>
          <a:lstStyle/>
          <a:p>
            <a:pPr algn="ctr"/>
            <a:r>
              <a:rPr lang="en-US" sz="2800" b="0" cap="none" spc="0" dirty="0">
                <a:ln w="0"/>
                <a:solidFill>
                  <a:srgbClr val="FF0000"/>
                </a:solidFill>
                <a:effectLst>
                  <a:outerShdw blurRad="38100" dist="19050" dir="2700000" algn="tl" rotWithShape="0">
                    <a:schemeClr val="dk1">
                      <a:alpha val="40000"/>
                    </a:schemeClr>
                  </a:outerShdw>
                </a:effectLst>
              </a:rPr>
              <a:t>By </a:t>
            </a:r>
          </a:p>
        </p:txBody>
      </p:sp>
      <p:graphicFrame>
        <p:nvGraphicFramePr>
          <p:cNvPr id="8" name="Table 7">
            <a:extLst>
              <a:ext uri="{FF2B5EF4-FFF2-40B4-BE49-F238E27FC236}">
                <a16:creationId xmlns:a16="http://schemas.microsoft.com/office/drawing/2014/main" id="{6429DE5C-FAB2-2F28-8991-C8258F3FEA4F}"/>
              </a:ext>
            </a:extLst>
          </p:cNvPr>
          <p:cNvGraphicFramePr>
            <a:graphicFrameLocks noGrp="1"/>
          </p:cNvGraphicFramePr>
          <p:nvPr>
            <p:extLst>
              <p:ext uri="{D42A27DB-BD31-4B8C-83A1-F6EECF244321}">
                <p14:modId xmlns:p14="http://schemas.microsoft.com/office/powerpoint/2010/main" val="1828091673"/>
              </p:ext>
            </p:extLst>
          </p:nvPr>
        </p:nvGraphicFramePr>
        <p:xfrm>
          <a:off x="4380231" y="4862985"/>
          <a:ext cx="3246805" cy="1188720"/>
        </p:xfrm>
        <a:graphic>
          <a:graphicData uri="http://schemas.openxmlformats.org/drawingml/2006/table">
            <a:tbl>
              <a:tblPr/>
              <a:tblGrid>
                <a:gridCol w="3246805">
                  <a:extLst>
                    <a:ext uri="{9D8B030D-6E8A-4147-A177-3AD203B41FA5}">
                      <a16:colId xmlns:a16="http://schemas.microsoft.com/office/drawing/2014/main" val="1419484217"/>
                    </a:ext>
                  </a:extLst>
                </a:gridCol>
              </a:tblGrid>
              <a:tr h="160020">
                <a:tc>
                  <a:txBody>
                    <a:bodyPr/>
                    <a:lstStyle/>
                    <a:p>
                      <a:pPr algn="ctr" rtl="0" fontAlgn="b">
                        <a:buNone/>
                      </a:pPr>
                      <a:r>
                        <a:rPr lang="en-IN" sz="2400" dirty="0">
                          <a:effectLst/>
                          <a:latin typeface="Times New Roman" panose="02020603050405020304" pitchFamily="18" charset="0"/>
                          <a:cs typeface="Times New Roman" panose="02020603050405020304" pitchFamily="18" charset="0"/>
                        </a:rPr>
                        <a:t>K Nithin Kumar</a:t>
                      </a:r>
                    </a:p>
                  </a:txBody>
                  <a:tcPr marL="22860" marR="22860" marT="15240" marB="1524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487084555"/>
                  </a:ext>
                </a:extLst>
              </a:tr>
              <a:tr h="160020">
                <a:tc>
                  <a:txBody>
                    <a:bodyPr/>
                    <a:lstStyle/>
                    <a:p>
                      <a:pPr algn="ctr" rtl="0" fontAlgn="b">
                        <a:buNone/>
                      </a:pPr>
                      <a:r>
                        <a:rPr lang="en-IN" sz="2400" dirty="0">
                          <a:effectLst/>
                          <a:latin typeface="Times New Roman" panose="02020603050405020304" pitchFamily="18" charset="0"/>
                          <a:cs typeface="Times New Roman" panose="02020603050405020304" pitchFamily="18" charset="0"/>
                        </a:rPr>
                        <a:t>U Lakshmi Savya</a:t>
                      </a:r>
                    </a:p>
                  </a:txBody>
                  <a:tcPr marL="22860" marR="22860" marT="15240" marB="1524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147335787"/>
                  </a:ext>
                </a:extLst>
              </a:tr>
              <a:tr h="160020">
                <a:tc>
                  <a:txBody>
                    <a:bodyPr/>
                    <a:lstStyle/>
                    <a:p>
                      <a:pPr algn="ctr" rtl="0" fontAlgn="b">
                        <a:buNone/>
                      </a:pPr>
                      <a:r>
                        <a:rPr lang="en-IN" sz="2400" dirty="0">
                          <a:effectLst/>
                          <a:latin typeface="Times New Roman" panose="02020603050405020304" pitchFamily="18" charset="0"/>
                          <a:cs typeface="Times New Roman" panose="02020603050405020304" pitchFamily="18" charset="0"/>
                        </a:rPr>
                        <a:t>G Satyanjani</a:t>
                      </a:r>
                    </a:p>
                  </a:txBody>
                  <a:tcPr marL="22860" marR="22860" marT="15240" marB="15240" anchor="b">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573607266"/>
                  </a:ext>
                </a:extLst>
              </a:tr>
            </a:tbl>
          </a:graphicData>
        </a:graphic>
      </p:graphicFrame>
    </p:spTree>
    <p:extLst>
      <p:ext uri="{BB962C8B-B14F-4D97-AF65-F5344CB8AC3E}">
        <p14:creationId xmlns:p14="http://schemas.microsoft.com/office/powerpoint/2010/main" val="4113186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E6DD3E-5853-D809-033C-BA52C9FD2623}"/>
              </a:ext>
            </a:extLst>
          </p:cNvPr>
          <p:cNvSpPr txBox="1"/>
          <p:nvPr/>
        </p:nvSpPr>
        <p:spPr>
          <a:xfrm>
            <a:off x="673769" y="697650"/>
            <a:ext cx="6096000" cy="584775"/>
          </a:xfrm>
          <a:prstGeom prst="rect">
            <a:avLst/>
          </a:prstGeom>
          <a:noFill/>
        </p:spPr>
        <p:txBody>
          <a:bodyPr wrap="square">
            <a:spAutoFit/>
          </a:bodyPr>
          <a:lstStyle/>
          <a:p>
            <a:r>
              <a:rPr lang="en-IN" sz="3200" dirty="0">
                <a:latin typeface="Times New Roman" panose="02020603050405020304" pitchFamily="18" charset="0"/>
                <a:cs typeface="Times New Roman" panose="02020603050405020304" pitchFamily="18" charset="0"/>
              </a:rPr>
              <a:t>Project Overview</a:t>
            </a:r>
          </a:p>
        </p:txBody>
      </p:sp>
      <p:sp>
        <p:nvSpPr>
          <p:cNvPr id="8" name="TextBox 7">
            <a:extLst>
              <a:ext uri="{FF2B5EF4-FFF2-40B4-BE49-F238E27FC236}">
                <a16:creationId xmlns:a16="http://schemas.microsoft.com/office/drawing/2014/main" id="{F4BBDA37-54F2-642E-8925-F65E5C6FDF1C}"/>
              </a:ext>
            </a:extLst>
          </p:cNvPr>
          <p:cNvSpPr txBox="1"/>
          <p:nvPr/>
        </p:nvSpPr>
        <p:spPr>
          <a:xfrm>
            <a:off x="404261" y="1443791"/>
            <a:ext cx="11432140" cy="4832092"/>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dataset contains real passenger information from the Titanic’s tragic voyage in 1912. It includes details like age, gender, ticket class, fare, and whether each passenger survived. The data is commonly used for learning data analysis and building beginner machine-learning models. It helps us explore patterns such as who had higher chances of survival and </a:t>
            </a:r>
            <a:r>
              <a:rPr lang="en-US" sz="2800" dirty="0" err="1">
                <a:latin typeface="Times New Roman" panose="02020603050405020304" pitchFamily="18" charset="0"/>
                <a:cs typeface="Times New Roman" panose="02020603050405020304" pitchFamily="18" charset="0"/>
              </a:rPr>
              <a:t>why.This</a:t>
            </a:r>
            <a:r>
              <a:rPr lang="en-US" sz="2800" dirty="0">
                <a:latin typeface="Times New Roman" panose="02020603050405020304" pitchFamily="18" charset="0"/>
                <a:cs typeface="Times New Roman" panose="02020603050405020304" pitchFamily="18" charset="0"/>
              </a:rPr>
              <a:t> project uses the Titanic passenger dataset to understand the structure, quality, and characteristics of the data before performing any analysis or modeling. The dataset contains demographic and travel-related information of passengers aboard the Titanic and includes a survival indicator. The goal of this phase is to explore the dataset, identify data types, detect missing values, and assess overall data quality.</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2493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3B2671-FD13-A549-827B-6A496C28659F}"/>
              </a:ext>
            </a:extLst>
          </p:cNvPr>
          <p:cNvSpPr/>
          <p:nvPr/>
        </p:nvSpPr>
        <p:spPr>
          <a:xfrm>
            <a:off x="340407" y="737937"/>
            <a:ext cx="7821501" cy="523220"/>
          </a:xfrm>
          <a:prstGeom prst="rect">
            <a:avLst/>
          </a:prstGeom>
          <a:noFill/>
        </p:spPr>
        <p:txBody>
          <a:bodyPr wrap="none" lIns="91440" tIns="45720" rIns="91440" bIns="45720">
            <a:spAutoFit/>
          </a:bodyPr>
          <a:lstStyle/>
          <a:p>
            <a:pPr algn="ctr"/>
            <a:r>
              <a:rPr lang="en-US" sz="2800" dirty="0">
                <a:latin typeface="Times New Roman" panose="02020603050405020304" pitchFamily="18" charset="0"/>
                <a:cs typeface="Times New Roman" panose="02020603050405020304" pitchFamily="18" charset="0"/>
              </a:rPr>
              <a:t>Simple description of each column in Titanic dataset:</a:t>
            </a:r>
            <a:endParaRPr lang="en-US" sz="28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DDB144A-A90E-4E10-F6DF-1D5204C527FA}"/>
              </a:ext>
            </a:extLst>
          </p:cNvPr>
          <p:cNvSpPr txBox="1"/>
          <p:nvPr/>
        </p:nvSpPr>
        <p:spPr>
          <a:xfrm>
            <a:off x="577516" y="1684421"/>
            <a:ext cx="9079831" cy="4524315"/>
          </a:xfrm>
          <a:prstGeom prst="rect">
            <a:avLst/>
          </a:prstGeom>
          <a:noFill/>
        </p:spPr>
        <p:txBody>
          <a:bodyPr wrap="square" rtlCol="0">
            <a:spAutoFit/>
          </a:bodyPr>
          <a:lstStyle/>
          <a:p>
            <a:r>
              <a:rPr lang="en-US" dirty="0"/>
              <a:t>1.survived - passengers  who survived</a:t>
            </a:r>
          </a:p>
          <a:p>
            <a:r>
              <a:rPr lang="en-US" dirty="0"/>
              <a:t>2. pclass - passenger class</a:t>
            </a:r>
          </a:p>
          <a:p>
            <a:r>
              <a:rPr lang="en-US" dirty="0"/>
              <a:t>3. sex - gender of passenger</a:t>
            </a:r>
          </a:p>
          <a:p>
            <a:r>
              <a:rPr lang="en-US" dirty="0"/>
              <a:t>4. age - age of the passenger</a:t>
            </a:r>
          </a:p>
          <a:p>
            <a:r>
              <a:rPr lang="en-US" dirty="0"/>
              <a:t>5. sibsp - number of siblings / spouses aboard the titanic</a:t>
            </a:r>
          </a:p>
          <a:p>
            <a:r>
              <a:rPr lang="en-US" dirty="0"/>
              <a:t>6. parch - Number of Parents / Children aboard the Titanic</a:t>
            </a:r>
          </a:p>
          <a:p>
            <a:r>
              <a:rPr lang="en-US" dirty="0"/>
              <a:t>7. fare - Amount of money paid by the passenger for the ticket</a:t>
            </a:r>
          </a:p>
          <a:p>
            <a:r>
              <a:rPr lang="en-US" dirty="0"/>
              <a:t>8. embarked - Port where the passenger boarded the Titanic</a:t>
            </a:r>
          </a:p>
          <a:p>
            <a:r>
              <a:rPr lang="en-US" dirty="0"/>
              <a:t>9. class - Passenger travel class</a:t>
            </a:r>
          </a:p>
          <a:p>
            <a:r>
              <a:rPr lang="en-US" dirty="0"/>
              <a:t>10. who - Type of passenger based on age &amp; gender</a:t>
            </a:r>
          </a:p>
          <a:p>
            <a:r>
              <a:rPr lang="en-US" dirty="0"/>
              <a:t>11. adult_male - Passenger is an adult male not an adult male (woman or child)</a:t>
            </a:r>
          </a:p>
          <a:p>
            <a:r>
              <a:rPr lang="en-US" dirty="0"/>
              <a:t>12. deck - Deck level of the cabin</a:t>
            </a:r>
          </a:p>
          <a:p>
            <a:r>
              <a:rPr lang="en-US" dirty="0"/>
              <a:t>13. embark_town - embarkation port</a:t>
            </a:r>
          </a:p>
          <a:p>
            <a:r>
              <a:rPr lang="en-US" dirty="0"/>
              <a:t>14. alive - survival status</a:t>
            </a:r>
          </a:p>
          <a:p>
            <a:r>
              <a:rPr lang="en-US" dirty="0"/>
              <a:t>15. alone - Passenger traveled alone or with family</a:t>
            </a:r>
            <a:endParaRPr lang="en-IN" dirty="0"/>
          </a:p>
          <a:p>
            <a:endParaRPr lang="en-IN" dirty="0"/>
          </a:p>
        </p:txBody>
      </p:sp>
    </p:spTree>
    <p:extLst>
      <p:ext uri="{BB962C8B-B14F-4D97-AF65-F5344CB8AC3E}">
        <p14:creationId xmlns:p14="http://schemas.microsoft.com/office/powerpoint/2010/main" val="548032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EFFB9E-04CB-6A5B-6A63-4FE03270808B}"/>
              </a:ext>
            </a:extLst>
          </p:cNvPr>
          <p:cNvSpPr txBox="1"/>
          <p:nvPr/>
        </p:nvSpPr>
        <p:spPr>
          <a:xfrm>
            <a:off x="875899" y="1106789"/>
            <a:ext cx="5877826" cy="523220"/>
          </a:xfrm>
          <a:prstGeom prst="rect">
            <a:avLst/>
          </a:prstGeom>
          <a:noFill/>
        </p:spPr>
        <p:txBody>
          <a:bodyPr wrap="square">
            <a:spAutoFit/>
          </a:bodyPr>
          <a:lstStyle/>
          <a:p>
            <a:r>
              <a:rPr lang="en-IN" sz="2800" dirty="0">
                <a:latin typeface="Times New Roman" panose="02020603050405020304" pitchFamily="18" charset="0"/>
                <a:cs typeface="Times New Roman" panose="02020603050405020304" pitchFamily="18" charset="0"/>
              </a:rPr>
              <a:t>Reading Dataset</a:t>
            </a:r>
          </a:p>
        </p:txBody>
      </p:sp>
      <p:pic>
        <p:nvPicPr>
          <p:cNvPr id="5" name="Picture 4">
            <a:extLst>
              <a:ext uri="{FF2B5EF4-FFF2-40B4-BE49-F238E27FC236}">
                <a16:creationId xmlns:a16="http://schemas.microsoft.com/office/drawing/2014/main" id="{9BDC54C4-8B79-A1B5-EE5F-C86FFFC54644}"/>
              </a:ext>
            </a:extLst>
          </p:cNvPr>
          <p:cNvPicPr>
            <a:picLocks noChangeAspect="1"/>
          </p:cNvPicPr>
          <p:nvPr/>
        </p:nvPicPr>
        <p:blipFill>
          <a:blip r:embed="rId2"/>
          <a:stretch>
            <a:fillRect/>
          </a:stretch>
        </p:blipFill>
        <p:spPr>
          <a:xfrm>
            <a:off x="243839" y="1630009"/>
            <a:ext cx="9336506" cy="5033204"/>
          </a:xfrm>
          <a:prstGeom prst="rect">
            <a:avLst/>
          </a:prstGeom>
        </p:spPr>
      </p:pic>
      <p:sp>
        <p:nvSpPr>
          <p:cNvPr id="4" name="TextBox 3">
            <a:extLst>
              <a:ext uri="{FF2B5EF4-FFF2-40B4-BE49-F238E27FC236}">
                <a16:creationId xmlns:a16="http://schemas.microsoft.com/office/drawing/2014/main" id="{4015DE3A-2DF7-2A91-8AA9-C1250FB77E68}"/>
              </a:ext>
            </a:extLst>
          </p:cNvPr>
          <p:cNvSpPr txBox="1"/>
          <p:nvPr/>
        </p:nvSpPr>
        <p:spPr>
          <a:xfrm>
            <a:off x="798896" y="583569"/>
            <a:ext cx="8347510" cy="523220"/>
          </a:xfrm>
          <a:prstGeom prst="rect">
            <a:avLst/>
          </a:prstGeom>
          <a:noFill/>
        </p:spPr>
        <p:txBody>
          <a:bodyPr wrap="square">
            <a:spAutoFit/>
          </a:bodyPr>
          <a:lstStyle/>
          <a:p>
            <a:pPr algn="l">
              <a:spcBef>
                <a:spcPts val="1089"/>
              </a:spcBef>
              <a:spcAft>
                <a:spcPts val="726"/>
              </a:spcAft>
              <a:buNone/>
            </a:pPr>
            <a:r>
              <a:rPr lang="en-IN" sz="2800" b="0" i="0" dirty="0">
                <a:effectLst/>
                <a:latin typeface="Times New Roman" panose="02020603050405020304" pitchFamily="18" charset="0"/>
                <a:cs typeface="Times New Roman" panose="02020603050405020304" pitchFamily="18" charset="0"/>
              </a:rPr>
              <a:t>PHASE-1 : DATA UNDERSTANDING</a:t>
            </a:r>
          </a:p>
        </p:txBody>
      </p:sp>
    </p:spTree>
    <p:extLst>
      <p:ext uri="{BB962C8B-B14F-4D97-AF65-F5344CB8AC3E}">
        <p14:creationId xmlns:p14="http://schemas.microsoft.com/office/powerpoint/2010/main" val="1471669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F20989-2A63-5A6F-FCB7-55056BFC123F}"/>
              </a:ext>
            </a:extLst>
          </p:cNvPr>
          <p:cNvSpPr txBox="1"/>
          <p:nvPr/>
        </p:nvSpPr>
        <p:spPr>
          <a:xfrm>
            <a:off x="282668" y="176328"/>
            <a:ext cx="609600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Basic Checks </a:t>
            </a:r>
          </a:p>
        </p:txBody>
      </p:sp>
      <p:pic>
        <p:nvPicPr>
          <p:cNvPr id="7" name="Picture 6">
            <a:extLst>
              <a:ext uri="{FF2B5EF4-FFF2-40B4-BE49-F238E27FC236}">
                <a16:creationId xmlns:a16="http://schemas.microsoft.com/office/drawing/2014/main" id="{BAFA9796-9329-6985-0E22-71F18930C4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383" y="2530178"/>
            <a:ext cx="5578323" cy="4249295"/>
          </a:xfrm>
          <a:prstGeom prst="rect">
            <a:avLst/>
          </a:prstGeom>
        </p:spPr>
      </p:pic>
      <p:pic>
        <p:nvPicPr>
          <p:cNvPr id="9" name="Picture 8">
            <a:extLst>
              <a:ext uri="{FF2B5EF4-FFF2-40B4-BE49-F238E27FC236}">
                <a16:creationId xmlns:a16="http://schemas.microsoft.com/office/drawing/2014/main" id="{2C88BE2E-0B3B-D134-7E46-E4C6D0EF2B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9423" y="1100174"/>
            <a:ext cx="5890658" cy="3179091"/>
          </a:xfrm>
          <a:prstGeom prst="rect">
            <a:avLst/>
          </a:prstGeom>
        </p:spPr>
      </p:pic>
      <p:pic>
        <p:nvPicPr>
          <p:cNvPr id="11" name="Picture 10">
            <a:extLst>
              <a:ext uri="{FF2B5EF4-FFF2-40B4-BE49-F238E27FC236}">
                <a16:creationId xmlns:a16="http://schemas.microsoft.com/office/drawing/2014/main" id="{758C19D4-E4D4-7A93-3023-905D0258FB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2992" y="4650462"/>
            <a:ext cx="5890658" cy="2129011"/>
          </a:xfrm>
          <a:prstGeom prst="rect">
            <a:avLst/>
          </a:prstGeom>
        </p:spPr>
      </p:pic>
      <p:sp>
        <p:nvSpPr>
          <p:cNvPr id="12" name="Rectangle 11">
            <a:extLst>
              <a:ext uri="{FF2B5EF4-FFF2-40B4-BE49-F238E27FC236}">
                <a16:creationId xmlns:a16="http://schemas.microsoft.com/office/drawing/2014/main" id="{F287C718-5C34-4216-9C95-7001848A6293}"/>
              </a:ext>
            </a:extLst>
          </p:cNvPr>
          <p:cNvSpPr/>
          <p:nvPr/>
        </p:nvSpPr>
        <p:spPr>
          <a:xfrm>
            <a:off x="276383" y="681769"/>
            <a:ext cx="2057231"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Columns of dataset:</a:t>
            </a:r>
          </a:p>
        </p:txBody>
      </p:sp>
      <p:sp>
        <p:nvSpPr>
          <p:cNvPr id="13" name="Rectangle 12">
            <a:extLst>
              <a:ext uri="{FF2B5EF4-FFF2-40B4-BE49-F238E27FC236}">
                <a16:creationId xmlns:a16="http://schemas.microsoft.com/office/drawing/2014/main" id="{D57BF451-29F5-7DC7-3C9E-A83F8871F7FE}"/>
              </a:ext>
            </a:extLst>
          </p:cNvPr>
          <p:cNvSpPr/>
          <p:nvPr/>
        </p:nvSpPr>
        <p:spPr>
          <a:xfrm>
            <a:off x="141666" y="2178625"/>
            <a:ext cx="3300391"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Checking structure of the dataset</a:t>
            </a:r>
            <a:endParaRPr lang="en-IN" b="0" cap="none" spc="0" dirty="0">
              <a:ln w="0"/>
              <a:solidFill>
                <a:schemeClr val="tx1"/>
              </a:solidFill>
              <a:effectLst>
                <a:outerShdw blurRad="38100" dist="19050" dir="2700000" algn="tl" rotWithShape="0">
                  <a:schemeClr val="dk1">
                    <a:alpha val="40000"/>
                  </a:schemeClr>
                </a:outerShdw>
              </a:effectLst>
            </a:endParaRPr>
          </a:p>
        </p:txBody>
      </p:sp>
      <p:sp>
        <p:nvSpPr>
          <p:cNvPr id="14" name="Rectangle 13">
            <a:extLst>
              <a:ext uri="{FF2B5EF4-FFF2-40B4-BE49-F238E27FC236}">
                <a16:creationId xmlns:a16="http://schemas.microsoft.com/office/drawing/2014/main" id="{481F60C8-0972-1922-4995-0FC753E3781A}"/>
              </a:ext>
            </a:extLst>
          </p:cNvPr>
          <p:cNvSpPr/>
          <p:nvPr/>
        </p:nvSpPr>
        <p:spPr>
          <a:xfrm>
            <a:off x="6096000" y="544311"/>
            <a:ext cx="4892750"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Checking summary statistics of numerical columns</a:t>
            </a:r>
          </a:p>
        </p:txBody>
      </p:sp>
      <p:sp>
        <p:nvSpPr>
          <p:cNvPr id="15" name="Rectangle 14">
            <a:extLst>
              <a:ext uri="{FF2B5EF4-FFF2-40B4-BE49-F238E27FC236}">
                <a16:creationId xmlns:a16="http://schemas.microsoft.com/office/drawing/2014/main" id="{3ACA8AAB-E016-0260-B011-A1BB67B6ED19}"/>
              </a:ext>
            </a:extLst>
          </p:cNvPr>
          <p:cNvSpPr/>
          <p:nvPr/>
        </p:nvSpPr>
        <p:spPr>
          <a:xfrm>
            <a:off x="6096000" y="4094599"/>
            <a:ext cx="4883003"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Checking summary statistics of categorical column</a:t>
            </a:r>
          </a:p>
        </p:txBody>
      </p:sp>
      <p:pic>
        <p:nvPicPr>
          <p:cNvPr id="4" name="Picture 3">
            <a:extLst>
              <a:ext uri="{FF2B5EF4-FFF2-40B4-BE49-F238E27FC236}">
                <a16:creationId xmlns:a16="http://schemas.microsoft.com/office/drawing/2014/main" id="{85BCF0FD-D6C5-6459-4F5B-85CCBC3CB8F1}"/>
              </a:ext>
            </a:extLst>
          </p:cNvPr>
          <p:cNvPicPr>
            <a:picLocks noChangeAspect="1"/>
          </p:cNvPicPr>
          <p:nvPr/>
        </p:nvPicPr>
        <p:blipFill>
          <a:blip r:embed="rId5"/>
          <a:stretch>
            <a:fillRect/>
          </a:stretch>
        </p:blipFill>
        <p:spPr>
          <a:xfrm>
            <a:off x="190956" y="1012134"/>
            <a:ext cx="5469615" cy="1166491"/>
          </a:xfrm>
          <a:prstGeom prst="rect">
            <a:avLst/>
          </a:prstGeom>
        </p:spPr>
      </p:pic>
    </p:spTree>
    <p:extLst>
      <p:ext uri="{BB962C8B-B14F-4D97-AF65-F5344CB8AC3E}">
        <p14:creationId xmlns:p14="http://schemas.microsoft.com/office/powerpoint/2010/main" val="267902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0B9081-244A-CCA6-7CCB-BD52C058DAC5}"/>
              </a:ext>
            </a:extLst>
          </p:cNvPr>
          <p:cNvSpPr/>
          <p:nvPr/>
        </p:nvSpPr>
        <p:spPr>
          <a:xfrm>
            <a:off x="343868" y="256219"/>
            <a:ext cx="9001696" cy="523220"/>
          </a:xfrm>
          <a:prstGeom prst="rect">
            <a:avLst/>
          </a:prstGeom>
          <a:noFill/>
        </p:spPr>
        <p:txBody>
          <a:bodyPr wrap="none" lIns="91440" tIns="45720" rIns="91440" bIns="45720">
            <a:spAutoFit/>
          </a:bodyPr>
          <a:lstStyle/>
          <a:p>
            <a:pPr algn="ctr"/>
            <a:r>
              <a:rPr lang="en-US" sz="2800" b="1" dirty="0">
                <a:latin typeface="Times New Roman" panose="02020603050405020304" pitchFamily="18" charset="0"/>
                <a:cs typeface="Times New Roman" panose="02020603050405020304" pitchFamily="18" charset="0"/>
              </a:rPr>
              <a:t>Preprocessing Techniques on Dataset Individual Columns</a:t>
            </a:r>
            <a:endParaRPr lang="en-US" sz="2800"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F8ABF8D-68AC-4EA0-6621-B1ED51F959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173" y="1587335"/>
            <a:ext cx="3637914" cy="3908492"/>
          </a:xfrm>
          <a:prstGeom prst="rect">
            <a:avLst/>
          </a:prstGeom>
        </p:spPr>
      </p:pic>
      <p:pic>
        <p:nvPicPr>
          <p:cNvPr id="6" name="Picture 5">
            <a:extLst>
              <a:ext uri="{FF2B5EF4-FFF2-40B4-BE49-F238E27FC236}">
                <a16:creationId xmlns:a16="http://schemas.microsoft.com/office/drawing/2014/main" id="{B0A9EB98-009A-00D5-C3AA-C10AD5356A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1406" y="1597290"/>
            <a:ext cx="3434313" cy="919667"/>
          </a:xfrm>
          <a:prstGeom prst="rect">
            <a:avLst/>
          </a:prstGeom>
        </p:spPr>
      </p:pic>
      <p:pic>
        <p:nvPicPr>
          <p:cNvPr id="8" name="Picture 7">
            <a:extLst>
              <a:ext uri="{FF2B5EF4-FFF2-40B4-BE49-F238E27FC236}">
                <a16:creationId xmlns:a16="http://schemas.microsoft.com/office/drawing/2014/main" id="{24A9D954-6CBE-00F1-0E83-2A22682C45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8844" y="2693719"/>
            <a:ext cx="4487836" cy="3104316"/>
          </a:xfrm>
          <a:prstGeom prst="rect">
            <a:avLst/>
          </a:prstGeom>
        </p:spPr>
      </p:pic>
      <p:sp>
        <p:nvSpPr>
          <p:cNvPr id="9" name="Rectangle 8">
            <a:extLst>
              <a:ext uri="{FF2B5EF4-FFF2-40B4-BE49-F238E27FC236}">
                <a16:creationId xmlns:a16="http://schemas.microsoft.com/office/drawing/2014/main" id="{EBCD57FF-6969-D316-8AD4-5546675356D8}"/>
              </a:ext>
            </a:extLst>
          </p:cNvPr>
          <p:cNvSpPr/>
          <p:nvPr/>
        </p:nvSpPr>
        <p:spPr>
          <a:xfrm>
            <a:off x="343868" y="917307"/>
            <a:ext cx="3251531" cy="461665"/>
          </a:xfrm>
          <a:prstGeom prst="rect">
            <a:avLst/>
          </a:prstGeom>
          <a:noFill/>
        </p:spPr>
        <p:txBody>
          <a:bodyPr wrap="none" lIns="91440" tIns="45720" rIns="91440" bIns="45720">
            <a:spAutoFit/>
          </a:bodyPr>
          <a:lstStyle/>
          <a:p>
            <a:pPr algn="ctr"/>
            <a:r>
              <a:rPr lang="en-US" sz="2400" b="0" cap="none" spc="0" dirty="0">
                <a:ln w="0"/>
                <a:solidFill>
                  <a:schemeClr val="tx1"/>
                </a:solidFill>
                <a:effectLst>
                  <a:outerShdw blurRad="38100" dist="19050" dir="2700000" algn="tl" rotWithShape="0">
                    <a:schemeClr val="dk1">
                      <a:alpha val="40000"/>
                    </a:schemeClr>
                  </a:outerShdw>
                </a:effectLst>
              </a:rPr>
              <a:t>Checking missing values:</a:t>
            </a:r>
          </a:p>
        </p:txBody>
      </p:sp>
      <p:sp>
        <p:nvSpPr>
          <p:cNvPr id="12" name="TextBox 11">
            <a:extLst>
              <a:ext uri="{FF2B5EF4-FFF2-40B4-BE49-F238E27FC236}">
                <a16:creationId xmlns:a16="http://schemas.microsoft.com/office/drawing/2014/main" id="{1C7F95B3-2BFC-40F8-281E-B76E1C0A4787}"/>
              </a:ext>
            </a:extLst>
          </p:cNvPr>
          <p:cNvSpPr txBox="1"/>
          <p:nvPr/>
        </p:nvSpPr>
        <p:spPr>
          <a:xfrm>
            <a:off x="5213023" y="1020418"/>
            <a:ext cx="3608108" cy="400110"/>
          </a:xfrm>
          <a:prstGeom prst="rect">
            <a:avLst/>
          </a:prstGeom>
          <a:noFill/>
        </p:spPr>
        <p:txBody>
          <a:bodyPr wrap="square">
            <a:spAutoFit/>
          </a:bodyPr>
          <a:lstStyle/>
          <a:p>
            <a:pPr algn="ctr"/>
            <a:r>
              <a:rPr lang="en-US" sz="2000" b="0" cap="none" spc="0" dirty="0">
                <a:ln w="0"/>
                <a:solidFill>
                  <a:schemeClr val="tx1"/>
                </a:solidFill>
                <a:effectLst>
                  <a:outerShdw blurRad="38100" dist="19050" dir="2700000" algn="tl" rotWithShape="0">
                    <a:schemeClr val="dk1">
                      <a:alpha val="40000"/>
                    </a:schemeClr>
                  </a:outerShdw>
                </a:effectLst>
              </a:rPr>
              <a:t>Check for duplicate values:</a:t>
            </a:r>
          </a:p>
        </p:txBody>
      </p:sp>
    </p:spTree>
    <p:extLst>
      <p:ext uri="{BB962C8B-B14F-4D97-AF65-F5344CB8AC3E}">
        <p14:creationId xmlns:p14="http://schemas.microsoft.com/office/powerpoint/2010/main" val="2880138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5B184CE-D050-722D-D209-802308ADA84E}"/>
              </a:ext>
            </a:extLst>
          </p:cNvPr>
          <p:cNvSpPr/>
          <p:nvPr/>
        </p:nvSpPr>
        <p:spPr>
          <a:xfrm>
            <a:off x="334583" y="585013"/>
            <a:ext cx="5761417" cy="830997"/>
          </a:xfrm>
          <a:prstGeom prst="rect">
            <a:avLst/>
          </a:prstGeom>
          <a:noFill/>
        </p:spPr>
        <p:txBody>
          <a:bodyPr wrap="square" lIns="91440" tIns="45720" rIns="91440" bIns="45720">
            <a:spAutoFit/>
          </a:bodyPr>
          <a:lstStyle/>
          <a:p>
            <a:r>
              <a:rPr lang="en-IN" sz="2400" dirty="0">
                <a:latin typeface="Times New Roman" panose="02020603050405020304" pitchFamily="18" charset="0"/>
                <a:cs typeface="Times New Roman" panose="02020603050405020304" pitchFamily="18" charset="0"/>
              </a:rPr>
              <a:t>DATA CLEANING AND MANIPULATION</a:t>
            </a:r>
          </a:p>
          <a:p>
            <a:r>
              <a:rPr lang="en-IN" sz="2400" dirty="0">
                <a:latin typeface="Times New Roman" panose="02020603050405020304" pitchFamily="18" charset="0"/>
                <a:cs typeface="Times New Roman" panose="02020603050405020304" pitchFamily="18" charset="0"/>
              </a:rPr>
              <a:t>1.Handle Missing Data</a:t>
            </a:r>
            <a:r>
              <a:rPr lang="en-IN" sz="2400" dirty="0">
                <a:latin typeface="Times New Roman" panose="02020603050405020304" pitchFamily="18" charset="0"/>
                <a:cs typeface="Times New Roman" panose="02020603050405020304" pitchFamily="18" charset="0"/>
                <a:hlinkClick r:id="rId2"/>
              </a:rPr>
              <a:t>¶</a:t>
            </a:r>
            <a:endParaRPr lang="en-IN" sz="24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6E326891-7A33-16EF-CC92-D44FE160FC99}"/>
              </a:ext>
            </a:extLst>
          </p:cNvPr>
          <p:cNvSpPr/>
          <p:nvPr/>
        </p:nvSpPr>
        <p:spPr>
          <a:xfrm>
            <a:off x="345900" y="1377013"/>
            <a:ext cx="2026517" cy="523220"/>
          </a:xfrm>
          <a:prstGeom prst="rect">
            <a:avLst/>
          </a:prstGeom>
          <a:noFill/>
        </p:spPr>
        <p:txBody>
          <a:bodyPr wrap="none" lIns="91440" tIns="45720" rIns="91440" bIns="45720">
            <a:spAutoFit/>
          </a:bodyPr>
          <a:lstStyle/>
          <a:p>
            <a:pPr algn="ctr"/>
            <a:r>
              <a:rPr lang="en-US" sz="28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Column: age</a:t>
            </a:r>
          </a:p>
        </p:txBody>
      </p:sp>
      <p:pic>
        <p:nvPicPr>
          <p:cNvPr id="5" name="Picture 4">
            <a:extLst>
              <a:ext uri="{FF2B5EF4-FFF2-40B4-BE49-F238E27FC236}">
                <a16:creationId xmlns:a16="http://schemas.microsoft.com/office/drawing/2014/main" id="{04C42147-EEAC-C6C8-E653-A3D12C632DDA}"/>
              </a:ext>
            </a:extLst>
          </p:cNvPr>
          <p:cNvPicPr>
            <a:picLocks noChangeAspect="1"/>
          </p:cNvPicPr>
          <p:nvPr/>
        </p:nvPicPr>
        <p:blipFill>
          <a:blip r:embed="rId3"/>
          <a:stretch>
            <a:fillRect/>
          </a:stretch>
        </p:blipFill>
        <p:spPr>
          <a:xfrm>
            <a:off x="334583" y="1899148"/>
            <a:ext cx="5806943" cy="746825"/>
          </a:xfrm>
          <a:prstGeom prst="rect">
            <a:avLst/>
          </a:prstGeom>
        </p:spPr>
      </p:pic>
      <p:sp>
        <p:nvSpPr>
          <p:cNvPr id="6" name="Rectangle 5">
            <a:extLst>
              <a:ext uri="{FF2B5EF4-FFF2-40B4-BE49-F238E27FC236}">
                <a16:creationId xmlns:a16="http://schemas.microsoft.com/office/drawing/2014/main" id="{C628A305-BA64-8C3C-7E2B-54968EA31CA0}"/>
              </a:ext>
            </a:extLst>
          </p:cNvPr>
          <p:cNvSpPr/>
          <p:nvPr/>
        </p:nvSpPr>
        <p:spPr>
          <a:xfrm>
            <a:off x="331490" y="2666533"/>
            <a:ext cx="2943434" cy="523220"/>
          </a:xfrm>
          <a:prstGeom prst="rect">
            <a:avLst/>
          </a:prstGeom>
          <a:noFill/>
        </p:spPr>
        <p:txBody>
          <a:bodyPr wrap="non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Column: embark</a:t>
            </a:r>
            <a:r>
              <a:rPr lang="en-US" sz="28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ed</a:t>
            </a:r>
            <a:endParaRPr lang="en-US" sz="28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F17963D-BECA-8533-0ABE-3B9A214F0505}"/>
              </a:ext>
            </a:extLst>
          </p:cNvPr>
          <p:cNvPicPr>
            <a:picLocks noChangeAspect="1"/>
          </p:cNvPicPr>
          <p:nvPr/>
        </p:nvPicPr>
        <p:blipFill>
          <a:blip r:embed="rId4"/>
          <a:stretch>
            <a:fillRect/>
          </a:stretch>
        </p:blipFill>
        <p:spPr>
          <a:xfrm>
            <a:off x="241555" y="3167024"/>
            <a:ext cx="6127011" cy="1013548"/>
          </a:xfrm>
          <a:prstGeom prst="rect">
            <a:avLst/>
          </a:prstGeom>
        </p:spPr>
      </p:pic>
      <p:sp>
        <p:nvSpPr>
          <p:cNvPr id="9" name="Rectangle 8">
            <a:extLst>
              <a:ext uri="{FF2B5EF4-FFF2-40B4-BE49-F238E27FC236}">
                <a16:creationId xmlns:a16="http://schemas.microsoft.com/office/drawing/2014/main" id="{B82E3699-5FD7-A89E-9D1F-E9E8C5BDEF6B}"/>
              </a:ext>
            </a:extLst>
          </p:cNvPr>
          <p:cNvSpPr/>
          <p:nvPr/>
        </p:nvSpPr>
        <p:spPr>
          <a:xfrm>
            <a:off x="334583" y="5265414"/>
            <a:ext cx="2254142" cy="523220"/>
          </a:xfrm>
          <a:prstGeom prst="rect">
            <a:avLst/>
          </a:prstGeom>
          <a:noFill/>
        </p:spPr>
        <p:txBody>
          <a:bodyPr wrap="non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rPr>
              <a:t>Column:  deck</a:t>
            </a:r>
          </a:p>
        </p:txBody>
      </p:sp>
      <p:pic>
        <p:nvPicPr>
          <p:cNvPr id="11" name="Picture 10">
            <a:extLst>
              <a:ext uri="{FF2B5EF4-FFF2-40B4-BE49-F238E27FC236}">
                <a16:creationId xmlns:a16="http://schemas.microsoft.com/office/drawing/2014/main" id="{6309D470-5E83-5B53-4BEC-2BF424F88FE9}"/>
              </a:ext>
            </a:extLst>
          </p:cNvPr>
          <p:cNvPicPr>
            <a:picLocks noChangeAspect="1"/>
          </p:cNvPicPr>
          <p:nvPr/>
        </p:nvPicPr>
        <p:blipFill>
          <a:blip r:embed="rId5"/>
          <a:stretch>
            <a:fillRect/>
          </a:stretch>
        </p:blipFill>
        <p:spPr>
          <a:xfrm>
            <a:off x="345900" y="5751549"/>
            <a:ext cx="6111770" cy="975445"/>
          </a:xfrm>
          <a:prstGeom prst="rect">
            <a:avLst/>
          </a:prstGeom>
        </p:spPr>
      </p:pic>
      <p:sp>
        <p:nvSpPr>
          <p:cNvPr id="12" name="Rectangle 11">
            <a:extLst>
              <a:ext uri="{FF2B5EF4-FFF2-40B4-BE49-F238E27FC236}">
                <a16:creationId xmlns:a16="http://schemas.microsoft.com/office/drawing/2014/main" id="{4D6C7DF2-D803-691F-F5B8-2E6125334B4D}"/>
              </a:ext>
            </a:extLst>
          </p:cNvPr>
          <p:cNvSpPr/>
          <p:nvPr/>
        </p:nvSpPr>
        <p:spPr>
          <a:xfrm>
            <a:off x="345900" y="4264431"/>
            <a:ext cx="3533211" cy="523220"/>
          </a:xfrm>
          <a:prstGeom prst="rect">
            <a:avLst/>
          </a:prstGeom>
          <a:noFill/>
        </p:spPr>
        <p:txBody>
          <a:bodyPr wrap="none" lIns="91440" tIns="45720" rIns="91440" bIns="45720">
            <a:spAutoFit/>
          </a:bodyPr>
          <a:lstStyle/>
          <a:p>
            <a:pPr algn="ctr"/>
            <a:r>
              <a:rPr lang="en-US" sz="2800" dirty="0">
                <a:ln w="0"/>
                <a:effectLst>
                  <a:outerShdw blurRad="38100" dist="19050" dir="2700000" algn="tl" rotWithShape="0">
                    <a:schemeClr val="dk1">
                      <a:alpha val="40000"/>
                    </a:schemeClr>
                  </a:outerShdw>
                </a:effectLst>
              </a:rPr>
              <a:t>Column: embark_town</a:t>
            </a:r>
            <a:endParaRPr lang="en-US" sz="2800" b="0" cap="none" spc="0" dirty="0">
              <a:ln w="0"/>
              <a:solidFill>
                <a:schemeClr val="tx1"/>
              </a:solidFill>
              <a:effectLst>
                <a:outerShdw blurRad="38100" dist="19050" dir="2700000" algn="tl" rotWithShape="0">
                  <a:schemeClr val="dk1">
                    <a:alpha val="40000"/>
                  </a:schemeClr>
                </a:outerShdw>
              </a:effectLst>
            </a:endParaRPr>
          </a:p>
        </p:txBody>
      </p:sp>
      <p:pic>
        <p:nvPicPr>
          <p:cNvPr id="14" name="Picture 13">
            <a:extLst>
              <a:ext uri="{FF2B5EF4-FFF2-40B4-BE49-F238E27FC236}">
                <a16:creationId xmlns:a16="http://schemas.microsoft.com/office/drawing/2014/main" id="{CB461123-5CBC-026E-7683-F491145B75DB}"/>
              </a:ext>
            </a:extLst>
          </p:cNvPr>
          <p:cNvPicPr>
            <a:picLocks noChangeAspect="1"/>
          </p:cNvPicPr>
          <p:nvPr/>
        </p:nvPicPr>
        <p:blipFill>
          <a:blip r:embed="rId6"/>
          <a:stretch>
            <a:fillRect/>
          </a:stretch>
        </p:blipFill>
        <p:spPr>
          <a:xfrm>
            <a:off x="296993" y="4923236"/>
            <a:ext cx="5860288" cy="350550"/>
          </a:xfrm>
          <a:prstGeom prst="rect">
            <a:avLst/>
          </a:prstGeom>
        </p:spPr>
      </p:pic>
      <p:pic>
        <p:nvPicPr>
          <p:cNvPr id="16" name="Picture 15">
            <a:extLst>
              <a:ext uri="{FF2B5EF4-FFF2-40B4-BE49-F238E27FC236}">
                <a16:creationId xmlns:a16="http://schemas.microsoft.com/office/drawing/2014/main" id="{88CFD662-4D34-0AB6-C7E5-AA022EC9074B}"/>
              </a:ext>
            </a:extLst>
          </p:cNvPr>
          <p:cNvPicPr>
            <a:picLocks noChangeAspect="1"/>
          </p:cNvPicPr>
          <p:nvPr/>
        </p:nvPicPr>
        <p:blipFill>
          <a:blip r:embed="rId7"/>
          <a:stretch>
            <a:fillRect/>
          </a:stretch>
        </p:blipFill>
        <p:spPr>
          <a:xfrm>
            <a:off x="7120864" y="1012408"/>
            <a:ext cx="4063466" cy="5428923"/>
          </a:xfrm>
          <a:prstGeom prst="rect">
            <a:avLst/>
          </a:prstGeom>
        </p:spPr>
      </p:pic>
      <p:sp>
        <p:nvSpPr>
          <p:cNvPr id="7" name="TextBox 6">
            <a:extLst>
              <a:ext uri="{FF2B5EF4-FFF2-40B4-BE49-F238E27FC236}">
                <a16:creationId xmlns:a16="http://schemas.microsoft.com/office/drawing/2014/main" id="{736BA080-3521-395D-4D1C-730E158C3C03}"/>
              </a:ext>
            </a:extLst>
          </p:cNvPr>
          <p:cNvSpPr txBox="1"/>
          <p:nvPr/>
        </p:nvSpPr>
        <p:spPr>
          <a:xfrm>
            <a:off x="345900" y="164213"/>
            <a:ext cx="2406925" cy="461665"/>
          </a:xfrm>
          <a:prstGeom prst="rect">
            <a:avLst/>
          </a:prstGeom>
          <a:noFill/>
        </p:spPr>
        <p:txBody>
          <a:bodyPr wrap="square">
            <a:spAutoFit/>
          </a:bodyPr>
          <a:lstStyle/>
          <a:p>
            <a:pPr algn="l">
              <a:spcBef>
                <a:spcPts val="1089"/>
              </a:spcBef>
              <a:spcAft>
                <a:spcPts val="726"/>
              </a:spcAft>
              <a:buNone/>
            </a:pPr>
            <a:r>
              <a:rPr lang="en-IN" sz="2400" b="0" i="0" dirty="0">
                <a:effectLst/>
                <a:latin typeface="Times New Roman" panose="02020603050405020304" pitchFamily="18" charset="0"/>
                <a:cs typeface="Times New Roman" panose="02020603050405020304" pitchFamily="18" charset="0"/>
              </a:rPr>
              <a:t>PHASE-2</a:t>
            </a:r>
          </a:p>
        </p:txBody>
      </p:sp>
    </p:spTree>
    <p:extLst>
      <p:ext uri="{BB962C8B-B14F-4D97-AF65-F5344CB8AC3E}">
        <p14:creationId xmlns:p14="http://schemas.microsoft.com/office/powerpoint/2010/main" val="40160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9919CC-0783-7C2E-6FA9-CB7B98FFF450}"/>
              </a:ext>
            </a:extLst>
          </p:cNvPr>
          <p:cNvSpPr txBox="1"/>
          <p:nvPr/>
        </p:nvSpPr>
        <p:spPr>
          <a:xfrm>
            <a:off x="352927" y="360765"/>
            <a:ext cx="6096000" cy="461665"/>
          </a:xfrm>
          <a:prstGeom prst="rect">
            <a:avLst/>
          </a:prstGeom>
          <a:noFill/>
        </p:spPr>
        <p:txBody>
          <a:bodyPr wrap="square">
            <a:spAutoFit/>
          </a:bodyPr>
          <a:lstStyle/>
          <a:p>
            <a:pPr algn="l">
              <a:spcBef>
                <a:spcPts val="907"/>
              </a:spcBef>
              <a:spcAft>
                <a:spcPts val="605"/>
              </a:spcAft>
              <a:buNone/>
            </a:pPr>
            <a:r>
              <a:rPr lang="en-IN" sz="2400" b="0" i="0" dirty="0">
                <a:effectLst/>
                <a:latin typeface="Times New Roman" panose="02020603050405020304" pitchFamily="18" charset="0"/>
                <a:cs typeface="Times New Roman" panose="02020603050405020304" pitchFamily="18" charset="0"/>
              </a:rPr>
              <a:t>2.Remove Duplicates</a:t>
            </a:r>
          </a:p>
        </p:txBody>
      </p:sp>
      <p:pic>
        <p:nvPicPr>
          <p:cNvPr id="5" name="Picture 4">
            <a:extLst>
              <a:ext uri="{FF2B5EF4-FFF2-40B4-BE49-F238E27FC236}">
                <a16:creationId xmlns:a16="http://schemas.microsoft.com/office/drawing/2014/main" id="{E32F3A56-F769-0B7F-7396-E9669135B076}"/>
              </a:ext>
            </a:extLst>
          </p:cNvPr>
          <p:cNvPicPr>
            <a:picLocks noChangeAspect="1"/>
          </p:cNvPicPr>
          <p:nvPr/>
        </p:nvPicPr>
        <p:blipFill>
          <a:blip r:embed="rId2"/>
          <a:stretch>
            <a:fillRect/>
          </a:stretch>
        </p:blipFill>
        <p:spPr>
          <a:xfrm>
            <a:off x="352927" y="1000130"/>
            <a:ext cx="5982218" cy="2194750"/>
          </a:xfrm>
          <a:prstGeom prst="rect">
            <a:avLst/>
          </a:prstGeom>
        </p:spPr>
      </p:pic>
      <p:pic>
        <p:nvPicPr>
          <p:cNvPr id="7" name="Picture 6">
            <a:extLst>
              <a:ext uri="{FF2B5EF4-FFF2-40B4-BE49-F238E27FC236}">
                <a16:creationId xmlns:a16="http://schemas.microsoft.com/office/drawing/2014/main" id="{02FA64F7-6592-2BD6-BA71-8789233CABF2}"/>
              </a:ext>
            </a:extLst>
          </p:cNvPr>
          <p:cNvPicPr>
            <a:picLocks noChangeAspect="1"/>
          </p:cNvPicPr>
          <p:nvPr/>
        </p:nvPicPr>
        <p:blipFill>
          <a:blip r:embed="rId3"/>
          <a:stretch>
            <a:fillRect/>
          </a:stretch>
        </p:blipFill>
        <p:spPr>
          <a:xfrm>
            <a:off x="352927" y="3663121"/>
            <a:ext cx="5913632" cy="1463167"/>
          </a:xfrm>
          <a:prstGeom prst="rect">
            <a:avLst/>
          </a:prstGeom>
        </p:spPr>
      </p:pic>
      <p:pic>
        <p:nvPicPr>
          <p:cNvPr id="9" name="Picture 8">
            <a:extLst>
              <a:ext uri="{FF2B5EF4-FFF2-40B4-BE49-F238E27FC236}">
                <a16:creationId xmlns:a16="http://schemas.microsoft.com/office/drawing/2014/main" id="{5850DA5F-B659-2E42-89EA-D6664D648F28}"/>
              </a:ext>
            </a:extLst>
          </p:cNvPr>
          <p:cNvPicPr>
            <a:picLocks noChangeAspect="1"/>
          </p:cNvPicPr>
          <p:nvPr/>
        </p:nvPicPr>
        <p:blipFill>
          <a:blip r:embed="rId4"/>
          <a:stretch>
            <a:fillRect/>
          </a:stretch>
        </p:blipFill>
        <p:spPr>
          <a:xfrm>
            <a:off x="352926" y="5526371"/>
            <a:ext cx="5982217" cy="662997"/>
          </a:xfrm>
          <a:prstGeom prst="rect">
            <a:avLst/>
          </a:prstGeom>
        </p:spPr>
      </p:pic>
    </p:spTree>
    <p:extLst>
      <p:ext uri="{BB962C8B-B14F-4D97-AF65-F5344CB8AC3E}">
        <p14:creationId xmlns:p14="http://schemas.microsoft.com/office/powerpoint/2010/main" val="3921948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E26A69-05B5-2C5D-76C9-D7B1B9721E85}"/>
              </a:ext>
            </a:extLst>
          </p:cNvPr>
          <p:cNvPicPr>
            <a:picLocks noChangeAspect="1"/>
          </p:cNvPicPr>
          <p:nvPr/>
        </p:nvPicPr>
        <p:blipFill>
          <a:blip r:embed="rId2"/>
          <a:stretch>
            <a:fillRect/>
          </a:stretch>
        </p:blipFill>
        <p:spPr>
          <a:xfrm>
            <a:off x="460540" y="450307"/>
            <a:ext cx="6233700" cy="1722269"/>
          </a:xfrm>
          <a:prstGeom prst="rect">
            <a:avLst/>
          </a:prstGeom>
        </p:spPr>
      </p:pic>
      <p:pic>
        <p:nvPicPr>
          <p:cNvPr id="5" name="Picture 4">
            <a:extLst>
              <a:ext uri="{FF2B5EF4-FFF2-40B4-BE49-F238E27FC236}">
                <a16:creationId xmlns:a16="http://schemas.microsoft.com/office/drawing/2014/main" id="{E85360FF-83DF-9BF7-F1BF-D15E274CD660}"/>
              </a:ext>
            </a:extLst>
          </p:cNvPr>
          <p:cNvPicPr>
            <a:picLocks noChangeAspect="1"/>
          </p:cNvPicPr>
          <p:nvPr/>
        </p:nvPicPr>
        <p:blipFill>
          <a:blip r:embed="rId3"/>
          <a:stretch>
            <a:fillRect/>
          </a:stretch>
        </p:blipFill>
        <p:spPr>
          <a:xfrm>
            <a:off x="460540" y="2172576"/>
            <a:ext cx="6172735" cy="1821338"/>
          </a:xfrm>
          <a:prstGeom prst="rect">
            <a:avLst/>
          </a:prstGeom>
        </p:spPr>
      </p:pic>
      <p:pic>
        <p:nvPicPr>
          <p:cNvPr id="7" name="Picture 6">
            <a:extLst>
              <a:ext uri="{FF2B5EF4-FFF2-40B4-BE49-F238E27FC236}">
                <a16:creationId xmlns:a16="http://schemas.microsoft.com/office/drawing/2014/main" id="{0F2C88C6-E980-FE97-5382-533AF2805E8C}"/>
              </a:ext>
            </a:extLst>
          </p:cNvPr>
          <p:cNvPicPr>
            <a:picLocks noChangeAspect="1"/>
          </p:cNvPicPr>
          <p:nvPr/>
        </p:nvPicPr>
        <p:blipFill>
          <a:blip r:embed="rId4"/>
          <a:stretch>
            <a:fillRect/>
          </a:stretch>
        </p:blipFill>
        <p:spPr>
          <a:xfrm>
            <a:off x="460540" y="4544791"/>
            <a:ext cx="6226080" cy="1287892"/>
          </a:xfrm>
          <a:prstGeom prst="rect">
            <a:avLst/>
          </a:prstGeom>
        </p:spPr>
      </p:pic>
      <p:pic>
        <p:nvPicPr>
          <p:cNvPr id="9" name="Picture 8">
            <a:extLst>
              <a:ext uri="{FF2B5EF4-FFF2-40B4-BE49-F238E27FC236}">
                <a16:creationId xmlns:a16="http://schemas.microsoft.com/office/drawing/2014/main" id="{268D41B0-9962-7D3C-70DB-86CC20A2F8E3}"/>
              </a:ext>
            </a:extLst>
          </p:cNvPr>
          <p:cNvPicPr>
            <a:picLocks noChangeAspect="1"/>
          </p:cNvPicPr>
          <p:nvPr/>
        </p:nvPicPr>
        <p:blipFill>
          <a:blip r:embed="rId5"/>
          <a:srcRect l="-1" r="29607"/>
          <a:stretch>
            <a:fillRect/>
          </a:stretch>
        </p:blipFill>
        <p:spPr>
          <a:xfrm>
            <a:off x="7220082" y="1025317"/>
            <a:ext cx="4286180" cy="1112616"/>
          </a:xfrm>
          <a:prstGeom prst="rect">
            <a:avLst/>
          </a:prstGeom>
        </p:spPr>
      </p:pic>
      <p:pic>
        <p:nvPicPr>
          <p:cNvPr id="15" name="Picture 14">
            <a:extLst>
              <a:ext uri="{FF2B5EF4-FFF2-40B4-BE49-F238E27FC236}">
                <a16:creationId xmlns:a16="http://schemas.microsoft.com/office/drawing/2014/main" id="{E3F2B734-719D-6015-B3D1-A845E99C0341}"/>
              </a:ext>
            </a:extLst>
          </p:cNvPr>
          <p:cNvPicPr>
            <a:picLocks noChangeAspect="1"/>
          </p:cNvPicPr>
          <p:nvPr/>
        </p:nvPicPr>
        <p:blipFill>
          <a:blip r:embed="rId6"/>
          <a:stretch>
            <a:fillRect/>
          </a:stretch>
        </p:blipFill>
        <p:spPr>
          <a:xfrm>
            <a:off x="7220082" y="4544791"/>
            <a:ext cx="4009623" cy="1287892"/>
          </a:xfrm>
          <a:prstGeom prst="rect">
            <a:avLst/>
          </a:prstGeom>
        </p:spPr>
      </p:pic>
      <p:pic>
        <p:nvPicPr>
          <p:cNvPr id="17" name="Picture 16">
            <a:extLst>
              <a:ext uri="{FF2B5EF4-FFF2-40B4-BE49-F238E27FC236}">
                <a16:creationId xmlns:a16="http://schemas.microsoft.com/office/drawing/2014/main" id="{4EEE37EC-C231-EA2F-EADE-9A7EE5F80F23}"/>
              </a:ext>
            </a:extLst>
          </p:cNvPr>
          <p:cNvPicPr>
            <a:picLocks noChangeAspect="1"/>
          </p:cNvPicPr>
          <p:nvPr/>
        </p:nvPicPr>
        <p:blipFill>
          <a:blip r:embed="rId7">
            <a:extLst>
              <a:ext uri="{28A0092B-C50C-407E-A947-70E740481C1C}">
                <a14:useLocalDpi xmlns:a14="http://schemas.microsoft.com/office/drawing/2010/main" val="0"/>
              </a:ext>
            </a:extLst>
          </a:blip>
          <a:srcRect r="16085"/>
          <a:stretch>
            <a:fillRect/>
          </a:stretch>
        </p:blipFill>
        <p:spPr>
          <a:xfrm>
            <a:off x="7220082" y="2891743"/>
            <a:ext cx="4009623" cy="1074513"/>
          </a:xfrm>
          <a:prstGeom prst="rect">
            <a:avLst/>
          </a:prstGeom>
        </p:spPr>
      </p:pic>
    </p:spTree>
    <p:extLst>
      <p:ext uri="{BB962C8B-B14F-4D97-AF65-F5344CB8AC3E}">
        <p14:creationId xmlns:p14="http://schemas.microsoft.com/office/powerpoint/2010/main" val="2588890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7D08C1-1B2A-43ED-CE9B-0AC193A8471B}"/>
              </a:ext>
            </a:extLst>
          </p:cNvPr>
          <p:cNvSpPr txBox="1"/>
          <p:nvPr/>
        </p:nvSpPr>
        <p:spPr>
          <a:xfrm>
            <a:off x="192505" y="154004"/>
            <a:ext cx="8953901" cy="646331"/>
          </a:xfrm>
          <a:prstGeom prst="rect">
            <a:avLst/>
          </a:prstGeom>
          <a:noFill/>
        </p:spPr>
        <p:txBody>
          <a:bodyPr wrap="square">
            <a:spAutoFit/>
          </a:bodyPr>
          <a:lstStyle/>
          <a:p>
            <a:pPr algn="l">
              <a:spcBef>
                <a:spcPts val="907"/>
              </a:spcBef>
              <a:spcAft>
                <a:spcPts val="605"/>
              </a:spcAft>
              <a:buNone/>
            </a:pPr>
            <a:r>
              <a:rPr lang="en-IN" sz="3600" dirty="0">
                <a:latin typeface="Times New Roman" panose="02020603050405020304" pitchFamily="18" charset="0"/>
                <a:cs typeface="Times New Roman" panose="02020603050405020304" pitchFamily="18" charset="0"/>
              </a:rPr>
              <a:t>4</a:t>
            </a:r>
            <a:r>
              <a:rPr lang="en-IN" sz="3600" b="0" i="0" dirty="0">
                <a:effectLst/>
                <a:latin typeface="Times New Roman" panose="02020603050405020304" pitchFamily="18" charset="0"/>
                <a:cs typeface="Times New Roman" panose="02020603050405020304" pitchFamily="18" charset="0"/>
              </a:rPr>
              <a:t>.Non-Visual Univariate Analysis</a:t>
            </a:r>
          </a:p>
        </p:txBody>
      </p:sp>
      <p:pic>
        <p:nvPicPr>
          <p:cNvPr id="5" name="Picture 4">
            <a:extLst>
              <a:ext uri="{FF2B5EF4-FFF2-40B4-BE49-F238E27FC236}">
                <a16:creationId xmlns:a16="http://schemas.microsoft.com/office/drawing/2014/main" id="{35AD2EFC-90BA-06A1-FD90-F495EB1604E5}"/>
              </a:ext>
            </a:extLst>
          </p:cNvPr>
          <p:cNvPicPr>
            <a:picLocks noChangeAspect="1"/>
          </p:cNvPicPr>
          <p:nvPr/>
        </p:nvPicPr>
        <p:blipFill>
          <a:blip r:embed="rId2"/>
          <a:stretch>
            <a:fillRect/>
          </a:stretch>
        </p:blipFill>
        <p:spPr>
          <a:xfrm>
            <a:off x="2952447" y="1068404"/>
            <a:ext cx="5681414" cy="5274644"/>
          </a:xfrm>
          <a:prstGeom prst="rect">
            <a:avLst/>
          </a:prstGeom>
        </p:spPr>
      </p:pic>
    </p:spTree>
    <p:extLst>
      <p:ext uri="{BB962C8B-B14F-4D97-AF65-F5344CB8AC3E}">
        <p14:creationId xmlns:p14="http://schemas.microsoft.com/office/powerpoint/2010/main" val="263488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B20204-D0E3-032E-EEB9-1528B201991C}"/>
              </a:ext>
            </a:extLst>
          </p:cNvPr>
          <p:cNvPicPr>
            <a:picLocks noChangeAspect="1"/>
          </p:cNvPicPr>
          <p:nvPr/>
        </p:nvPicPr>
        <p:blipFill>
          <a:blip r:embed="rId2"/>
          <a:stretch>
            <a:fillRect/>
          </a:stretch>
        </p:blipFill>
        <p:spPr>
          <a:xfrm>
            <a:off x="125127" y="0"/>
            <a:ext cx="5524901" cy="6858000"/>
          </a:xfrm>
          <a:prstGeom prst="rect">
            <a:avLst/>
          </a:prstGeom>
        </p:spPr>
      </p:pic>
      <p:pic>
        <p:nvPicPr>
          <p:cNvPr id="5" name="Picture 4">
            <a:extLst>
              <a:ext uri="{FF2B5EF4-FFF2-40B4-BE49-F238E27FC236}">
                <a16:creationId xmlns:a16="http://schemas.microsoft.com/office/drawing/2014/main" id="{9EBE9855-775E-7422-2834-B65728ED86EA}"/>
              </a:ext>
            </a:extLst>
          </p:cNvPr>
          <p:cNvPicPr>
            <a:picLocks noChangeAspect="1"/>
          </p:cNvPicPr>
          <p:nvPr/>
        </p:nvPicPr>
        <p:blipFill>
          <a:blip r:embed="rId3"/>
          <a:stretch>
            <a:fillRect/>
          </a:stretch>
        </p:blipFill>
        <p:spPr>
          <a:xfrm>
            <a:off x="6439301" y="1053"/>
            <a:ext cx="5062888" cy="6820852"/>
          </a:xfrm>
          <a:prstGeom prst="rect">
            <a:avLst/>
          </a:prstGeom>
        </p:spPr>
      </p:pic>
    </p:spTree>
    <p:extLst>
      <p:ext uri="{BB962C8B-B14F-4D97-AF65-F5344CB8AC3E}">
        <p14:creationId xmlns:p14="http://schemas.microsoft.com/office/powerpoint/2010/main" val="2780346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AD9C73-90E4-EA5A-9803-F91F533D15C4}"/>
              </a:ext>
            </a:extLst>
          </p:cNvPr>
          <p:cNvSpPr txBox="1"/>
          <p:nvPr/>
        </p:nvSpPr>
        <p:spPr>
          <a:xfrm>
            <a:off x="182880" y="96253"/>
            <a:ext cx="8963526" cy="646331"/>
          </a:xfrm>
          <a:prstGeom prst="rect">
            <a:avLst/>
          </a:prstGeom>
          <a:noFill/>
        </p:spPr>
        <p:txBody>
          <a:bodyPr wrap="square">
            <a:spAutoFit/>
          </a:bodyPr>
          <a:lstStyle/>
          <a:p>
            <a:pPr algn="l">
              <a:spcBef>
                <a:spcPts val="907"/>
              </a:spcBef>
              <a:spcAft>
                <a:spcPts val="605"/>
              </a:spcAft>
              <a:buNone/>
            </a:pPr>
            <a:r>
              <a:rPr lang="en-IN" sz="3600" dirty="0">
                <a:latin typeface="Times New Roman" panose="02020603050405020304" pitchFamily="18" charset="0"/>
                <a:cs typeface="Times New Roman" panose="02020603050405020304" pitchFamily="18" charset="0"/>
              </a:rPr>
              <a:t>5</a:t>
            </a:r>
            <a:r>
              <a:rPr lang="en-IN" sz="3600" b="0" i="0" dirty="0">
                <a:effectLst/>
                <a:latin typeface="Times New Roman" panose="02020603050405020304" pitchFamily="18" charset="0"/>
                <a:cs typeface="Times New Roman" panose="02020603050405020304" pitchFamily="18" charset="0"/>
              </a:rPr>
              <a:t>.Non-Visual Bivariate Analysis</a:t>
            </a:r>
          </a:p>
        </p:txBody>
      </p:sp>
      <p:pic>
        <p:nvPicPr>
          <p:cNvPr id="7" name="Picture 6">
            <a:extLst>
              <a:ext uri="{FF2B5EF4-FFF2-40B4-BE49-F238E27FC236}">
                <a16:creationId xmlns:a16="http://schemas.microsoft.com/office/drawing/2014/main" id="{2ED815DA-CAF7-34F9-90BA-51C418474852}"/>
              </a:ext>
            </a:extLst>
          </p:cNvPr>
          <p:cNvPicPr>
            <a:picLocks noChangeAspect="1"/>
          </p:cNvPicPr>
          <p:nvPr/>
        </p:nvPicPr>
        <p:blipFill>
          <a:blip r:embed="rId2"/>
          <a:stretch>
            <a:fillRect/>
          </a:stretch>
        </p:blipFill>
        <p:spPr>
          <a:xfrm>
            <a:off x="254379" y="742584"/>
            <a:ext cx="5282821" cy="5958950"/>
          </a:xfrm>
          <a:prstGeom prst="rect">
            <a:avLst/>
          </a:prstGeom>
        </p:spPr>
      </p:pic>
      <p:pic>
        <p:nvPicPr>
          <p:cNvPr id="9" name="Picture 8">
            <a:extLst>
              <a:ext uri="{FF2B5EF4-FFF2-40B4-BE49-F238E27FC236}">
                <a16:creationId xmlns:a16="http://schemas.microsoft.com/office/drawing/2014/main" id="{6ED11506-6CD7-A92F-A562-8653E0B37BAE}"/>
              </a:ext>
            </a:extLst>
          </p:cNvPr>
          <p:cNvPicPr>
            <a:picLocks noChangeAspect="1"/>
          </p:cNvPicPr>
          <p:nvPr/>
        </p:nvPicPr>
        <p:blipFill>
          <a:blip r:embed="rId3"/>
          <a:stretch>
            <a:fillRect/>
          </a:stretch>
        </p:blipFill>
        <p:spPr>
          <a:xfrm>
            <a:off x="5867400" y="760159"/>
            <a:ext cx="5829300" cy="6001588"/>
          </a:xfrm>
          <a:prstGeom prst="rect">
            <a:avLst/>
          </a:prstGeom>
        </p:spPr>
      </p:pic>
    </p:spTree>
    <p:extLst>
      <p:ext uri="{BB962C8B-B14F-4D97-AF65-F5344CB8AC3E}">
        <p14:creationId xmlns:p14="http://schemas.microsoft.com/office/powerpoint/2010/main" val="2823336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E257F2-65BB-0735-9E36-F5A747A6F2BC}"/>
              </a:ext>
            </a:extLst>
          </p:cNvPr>
          <p:cNvPicPr>
            <a:picLocks noChangeAspect="1"/>
          </p:cNvPicPr>
          <p:nvPr/>
        </p:nvPicPr>
        <p:blipFill>
          <a:blip r:embed="rId2"/>
          <a:stretch>
            <a:fillRect/>
          </a:stretch>
        </p:blipFill>
        <p:spPr>
          <a:xfrm>
            <a:off x="0" y="742575"/>
            <a:ext cx="6134956" cy="5372850"/>
          </a:xfrm>
          <a:prstGeom prst="rect">
            <a:avLst/>
          </a:prstGeom>
        </p:spPr>
      </p:pic>
      <p:pic>
        <p:nvPicPr>
          <p:cNvPr id="5" name="Picture 4">
            <a:extLst>
              <a:ext uri="{FF2B5EF4-FFF2-40B4-BE49-F238E27FC236}">
                <a16:creationId xmlns:a16="http://schemas.microsoft.com/office/drawing/2014/main" id="{5D29E7DA-40C2-7ACA-E329-12E9B29822D6}"/>
              </a:ext>
            </a:extLst>
          </p:cNvPr>
          <p:cNvPicPr>
            <a:picLocks noChangeAspect="1"/>
          </p:cNvPicPr>
          <p:nvPr/>
        </p:nvPicPr>
        <p:blipFill>
          <a:blip r:embed="rId3"/>
          <a:stretch>
            <a:fillRect/>
          </a:stretch>
        </p:blipFill>
        <p:spPr>
          <a:xfrm>
            <a:off x="6535554" y="539015"/>
            <a:ext cx="5486399" cy="5929162"/>
          </a:xfrm>
          <a:prstGeom prst="rect">
            <a:avLst/>
          </a:prstGeom>
        </p:spPr>
      </p:pic>
    </p:spTree>
    <p:extLst>
      <p:ext uri="{BB962C8B-B14F-4D97-AF65-F5344CB8AC3E}">
        <p14:creationId xmlns:p14="http://schemas.microsoft.com/office/powerpoint/2010/main" val="21189116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73D61A-3D89-28E2-6738-2B8F7748D2C0}"/>
              </a:ext>
            </a:extLst>
          </p:cNvPr>
          <p:cNvSpPr txBox="1"/>
          <p:nvPr/>
        </p:nvSpPr>
        <p:spPr>
          <a:xfrm>
            <a:off x="96253" y="115504"/>
            <a:ext cx="11117179" cy="646331"/>
          </a:xfrm>
          <a:prstGeom prst="rect">
            <a:avLst/>
          </a:prstGeom>
          <a:noFill/>
        </p:spPr>
        <p:txBody>
          <a:bodyPr wrap="square">
            <a:spAutoFit/>
          </a:bodyPr>
          <a:lstStyle/>
          <a:p>
            <a:pPr algn="l">
              <a:spcBef>
                <a:spcPts val="756"/>
              </a:spcBef>
              <a:spcAft>
                <a:spcPts val="504"/>
              </a:spcAft>
              <a:buNone/>
            </a:pPr>
            <a:r>
              <a:rPr lang="en-IN" sz="3600" b="0" i="0" dirty="0">
                <a:effectLst/>
                <a:latin typeface="Times New Roman" panose="02020603050405020304" pitchFamily="18" charset="0"/>
                <a:cs typeface="Times New Roman" panose="02020603050405020304" pitchFamily="18" charset="0"/>
              </a:rPr>
              <a:t> Categorical vs Numerical Analysis</a:t>
            </a:r>
          </a:p>
        </p:txBody>
      </p:sp>
      <p:pic>
        <p:nvPicPr>
          <p:cNvPr id="5" name="Picture 4">
            <a:extLst>
              <a:ext uri="{FF2B5EF4-FFF2-40B4-BE49-F238E27FC236}">
                <a16:creationId xmlns:a16="http://schemas.microsoft.com/office/drawing/2014/main" id="{90177843-2669-4230-0FE1-2EB6B5487FF2}"/>
              </a:ext>
            </a:extLst>
          </p:cNvPr>
          <p:cNvPicPr>
            <a:picLocks noChangeAspect="1"/>
          </p:cNvPicPr>
          <p:nvPr/>
        </p:nvPicPr>
        <p:blipFill>
          <a:blip r:embed="rId2"/>
          <a:stretch>
            <a:fillRect/>
          </a:stretch>
        </p:blipFill>
        <p:spPr>
          <a:xfrm>
            <a:off x="259882" y="761836"/>
            <a:ext cx="5399772" cy="5951000"/>
          </a:xfrm>
          <a:prstGeom prst="rect">
            <a:avLst/>
          </a:prstGeom>
        </p:spPr>
      </p:pic>
      <p:pic>
        <p:nvPicPr>
          <p:cNvPr id="7" name="Picture 6">
            <a:extLst>
              <a:ext uri="{FF2B5EF4-FFF2-40B4-BE49-F238E27FC236}">
                <a16:creationId xmlns:a16="http://schemas.microsoft.com/office/drawing/2014/main" id="{A49261EF-71B2-2742-2D3C-69451AAB6332}"/>
              </a:ext>
            </a:extLst>
          </p:cNvPr>
          <p:cNvPicPr>
            <a:picLocks noChangeAspect="1"/>
          </p:cNvPicPr>
          <p:nvPr/>
        </p:nvPicPr>
        <p:blipFill>
          <a:blip r:embed="rId3"/>
          <a:stretch>
            <a:fillRect/>
          </a:stretch>
        </p:blipFill>
        <p:spPr>
          <a:xfrm>
            <a:off x="6169793" y="761835"/>
            <a:ext cx="5553778" cy="5980661"/>
          </a:xfrm>
          <a:prstGeom prst="rect">
            <a:avLst/>
          </a:prstGeom>
        </p:spPr>
      </p:pic>
    </p:spTree>
    <p:extLst>
      <p:ext uri="{BB962C8B-B14F-4D97-AF65-F5344CB8AC3E}">
        <p14:creationId xmlns:p14="http://schemas.microsoft.com/office/powerpoint/2010/main" val="1946564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A80B41-3078-5B2F-AABD-90968C4FE78C}"/>
              </a:ext>
            </a:extLst>
          </p:cNvPr>
          <p:cNvPicPr>
            <a:picLocks noChangeAspect="1"/>
          </p:cNvPicPr>
          <p:nvPr/>
        </p:nvPicPr>
        <p:blipFill>
          <a:blip r:embed="rId2"/>
          <a:stretch>
            <a:fillRect/>
          </a:stretch>
        </p:blipFill>
        <p:spPr>
          <a:xfrm>
            <a:off x="362140" y="394636"/>
            <a:ext cx="5567022" cy="6194023"/>
          </a:xfrm>
          <a:prstGeom prst="rect">
            <a:avLst/>
          </a:prstGeom>
        </p:spPr>
      </p:pic>
      <p:pic>
        <p:nvPicPr>
          <p:cNvPr id="5" name="Picture 4">
            <a:extLst>
              <a:ext uri="{FF2B5EF4-FFF2-40B4-BE49-F238E27FC236}">
                <a16:creationId xmlns:a16="http://schemas.microsoft.com/office/drawing/2014/main" id="{BEB16E75-7156-0446-C40E-E4CCEFD75316}"/>
              </a:ext>
            </a:extLst>
          </p:cNvPr>
          <p:cNvPicPr>
            <a:picLocks noChangeAspect="1"/>
          </p:cNvPicPr>
          <p:nvPr/>
        </p:nvPicPr>
        <p:blipFill>
          <a:blip r:embed="rId3"/>
          <a:stretch>
            <a:fillRect/>
          </a:stretch>
        </p:blipFill>
        <p:spPr>
          <a:xfrm>
            <a:off x="6354094" y="567891"/>
            <a:ext cx="4945966" cy="5738571"/>
          </a:xfrm>
          <a:prstGeom prst="rect">
            <a:avLst/>
          </a:prstGeom>
        </p:spPr>
      </p:pic>
    </p:spTree>
    <p:extLst>
      <p:ext uri="{BB962C8B-B14F-4D97-AF65-F5344CB8AC3E}">
        <p14:creationId xmlns:p14="http://schemas.microsoft.com/office/powerpoint/2010/main" val="199685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5EAD12-CD71-262C-4FFC-8E683712B9CA}"/>
              </a:ext>
            </a:extLst>
          </p:cNvPr>
          <p:cNvSpPr txBox="1"/>
          <p:nvPr/>
        </p:nvSpPr>
        <p:spPr>
          <a:xfrm>
            <a:off x="1" y="86627"/>
            <a:ext cx="10857296" cy="646331"/>
          </a:xfrm>
          <a:prstGeom prst="rect">
            <a:avLst/>
          </a:prstGeom>
          <a:noFill/>
        </p:spPr>
        <p:txBody>
          <a:bodyPr wrap="square">
            <a:spAutoFit/>
          </a:bodyPr>
          <a:lstStyle/>
          <a:p>
            <a:pPr algn="l">
              <a:spcBef>
                <a:spcPts val="756"/>
              </a:spcBef>
              <a:spcAft>
                <a:spcPts val="504"/>
              </a:spcAft>
              <a:buNone/>
            </a:pPr>
            <a:r>
              <a:rPr lang="en-IN" b="0" i="0" dirty="0">
                <a:effectLst/>
                <a:latin typeface="system-ui"/>
              </a:rPr>
              <a:t> </a:t>
            </a:r>
            <a:r>
              <a:rPr lang="en-IN" sz="3600" b="0" i="0" dirty="0">
                <a:effectLst/>
                <a:latin typeface="Times New Roman" panose="02020603050405020304" pitchFamily="18" charset="0"/>
                <a:cs typeface="Times New Roman" panose="02020603050405020304" pitchFamily="18" charset="0"/>
              </a:rPr>
              <a:t>Numerical vs Numerical Analysis</a:t>
            </a:r>
          </a:p>
        </p:txBody>
      </p:sp>
      <p:pic>
        <p:nvPicPr>
          <p:cNvPr id="5" name="Picture 4">
            <a:extLst>
              <a:ext uri="{FF2B5EF4-FFF2-40B4-BE49-F238E27FC236}">
                <a16:creationId xmlns:a16="http://schemas.microsoft.com/office/drawing/2014/main" id="{5FE3DD73-2811-A9EB-220D-590F7B8C6F21}"/>
              </a:ext>
            </a:extLst>
          </p:cNvPr>
          <p:cNvPicPr>
            <a:picLocks noChangeAspect="1"/>
          </p:cNvPicPr>
          <p:nvPr/>
        </p:nvPicPr>
        <p:blipFill>
          <a:blip r:embed="rId2"/>
          <a:stretch>
            <a:fillRect/>
          </a:stretch>
        </p:blipFill>
        <p:spPr>
          <a:xfrm>
            <a:off x="95390" y="828312"/>
            <a:ext cx="5930026" cy="5726492"/>
          </a:xfrm>
          <a:prstGeom prst="rect">
            <a:avLst/>
          </a:prstGeom>
        </p:spPr>
      </p:pic>
      <p:pic>
        <p:nvPicPr>
          <p:cNvPr id="7" name="Picture 6">
            <a:extLst>
              <a:ext uri="{FF2B5EF4-FFF2-40B4-BE49-F238E27FC236}">
                <a16:creationId xmlns:a16="http://schemas.microsoft.com/office/drawing/2014/main" id="{F2354E52-9EDD-E733-7F6C-683674F5C653}"/>
              </a:ext>
            </a:extLst>
          </p:cNvPr>
          <p:cNvPicPr>
            <a:picLocks noChangeAspect="1"/>
          </p:cNvPicPr>
          <p:nvPr/>
        </p:nvPicPr>
        <p:blipFill>
          <a:blip r:embed="rId3"/>
          <a:stretch>
            <a:fillRect/>
          </a:stretch>
        </p:blipFill>
        <p:spPr>
          <a:xfrm>
            <a:off x="6381549" y="981777"/>
            <a:ext cx="4697129" cy="5505649"/>
          </a:xfrm>
          <a:prstGeom prst="rect">
            <a:avLst/>
          </a:prstGeom>
        </p:spPr>
      </p:pic>
    </p:spTree>
    <p:extLst>
      <p:ext uri="{BB962C8B-B14F-4D97-AF65-F5344CB8AC3E}">
        <p14:creationId xmlns:p14="http://schemas.microsoft.com/office/powerpoint/2010/main" val="4211351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8F21A1-F4ED-CC03-142E-461189A6D5EE}"/>
              </a:ext>
            </a:extLst>
          </p:cNvPr>
          <p:cNvSpPr txBox="1"/>
          <p:nvPr/>
        </p:nvSpPr>
        <p:spPr>
          <a:xfrm>
            <a:off x="176464" y="61890"/>
            <a:ext cx="7523747" cy="646331"/>
          </a:xfrm>
          <a:prstGeom prst="rect">
            <a:avLst/>
          </a:prstGeom>
          <a:noFill/>
        </p:spPr>
        <p:txBody>
          <a:bodyPr wrap="square" rtlCol="0">
            <a:spAutoFit/>
          </a:bodyPr>
          <a:lstStyle/>
          <a:p>
            <a:r>
              <a:rPr lang="en-IN" sz="3600" dirty="0">
                <a:latin typeface="Times New Roman" panose="02020603050405020304" pitchFamily="18" charset="0"/>
                <a:cs typeface="Times New Roman" panose="02020603050405020304" pitchFamily="18" charset="0"/>
              </a:rPr>
              <a:t>7.Data Analysis through Visualizations</a:t>
            </a:r>
          </a:p>
        </p:txBody>
      </p:sp>
      <p:sp>
        <p:nvSpPr>
          <p:cNvPr id="3" name="Rectangle 2">
            <a:extLst>
              <a:ext uri="{FF2B5EF4-FFF2-40B4-BE49-F238E27FC236}">
                <a16:creationId xmlns:a16="http://schemas.microsoft.com/office/drawing/2014/main" id="{20451925-DE19-E455-756B-7AD3D7DC8ADA}"/>
              </a:ext>
            </a:extLst>
          </p:cNvPr>
          <p:cNvSpPr/>
          <p:nvPr/>
        </p:nvSpPr>
        <p:spPr>
          <a:xfrm>
            <a:off x="-6553200" y="546532"/>
            <a:ext cx="18745201" cy="584775"/>
          </a:xfrm>
          <a:prstGeom prst="rect">
            <a:avLst/>
          </a:prstGeom>
          <a:noFill/>
        </p:spPr>
        <p:txBody>
          <a:bodyPr wrap="square" lIns="91440" tIns="45720" rIns="91440" bIns="45720">
            <a:spAutoFit/>
          </a:bodyPr>
          <a:lstStyle/>
          <a:p>
            <a:pPr algn="ctr"/>
            <a:r>
              <a:rPr lang="en-US" sz="32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Univariate analysis</a:t>
            </a:r>
            <a:r>
              <a:rPr lang="en-US" sz="3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(Numerical)</a:t>
            </a:r>
            <a:endParaRPr lang="en-US" sz="32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D46E0AF-4214-9B57-921C-3BC87DBD3C78}"/>
              </a:ext>
            </a:extLst>
          </p:cNvPr>
          <p:cNvPicPr>
            <a:picLocks noChangeAspect="1"/>
          </p:cNvPicPr>
          <p:nvPr/>
        </p:nvPicPr>
        <p:blipFill>
          <a:blip r:embed="rId2"/>
          <a:stretch>
            <a:fillRect/>
          </a:stretch>
        </p:blipFill>
        <p:spPr>
          <a:xfrm>
            <a:off x="488735" y="1450425"/>
            <a:ext cx="5365340" cy="5139218"/>
          </a:xfrm>
          <a:prstGeom prst="rect">
            <a:avLst/>
          </a:prstGeom>
        </p:spPr>
      </p:pic>
      <p:pic>
        <p:nvPicPr>
          <p:cNvPr id="7" name="Picture 6">
            <a:extLst>
              <a:ext uri="{FF2B5EF4-FFF2-40B4-BE49-F238E27FC236}">
                <a16:creationId xmlns:a16="http://schemas.microsoft.com/office/drawing/2014/main" id="{DDF2B618-F1B3-70B4-A983-B78C1C1D889A}"/>
              </a:ext>
            </a:extLst>
          </p:cNvPr>
          <p:cNvPicPr>
            <a:picLocks noChangeAspect="1"/>
          </p:cNvPicPr>
          <p:nvPr/>
        </p:nvPicPr>
        <p:blipFill>
          <a:blip r:embed="rId3"/>
          <a:stretch>
            <a:fillRect/>
          </a:stretch>
        </p:blipFill>
        <p:spPr>
          <a:xfrm>
            <a:off x="5854075" y="1554394"/>
            <a:ext cx="5936872" cy="5303606"/>
          </a:xfrm>
          <a:prstGeom prst="rect">
            <a:avLst/>
          </a:prstGeom>
        </p:spPr>
      </p:pic>
      <p:sp>
        <p:nvSpPr>
          <p:cNvPr id="6" name="TextBox 5">
            <a:extLst>
              <a:ext uri="{FF2B5EF4-FFF2-40B4-BE49-F238E27FC236}">
                <a16:creationId xmlns:a16="http://schemas.microsoft.com/office/drawing/2014/main" id="{15AC889A-846D-8048-A824-C0E61F16ADA1}"/>
              </a:ext>
            </a:extLst>
          </p:cNvPr>
          <p:cNvSpPr txBox="1"/>
          <p:nvPr/>
        </p:nvSpPr>
        <p:spPr>
          <a:xfrm>
            <a:off x="3048802" y="3246740"/>
            <a:ext cx="6097604" cy="369332"/>
          </a:xfrm>
          <a:prstGeom prst="rect">
            <a:avLst/>
          </a:prstGeom>
          <a:noFill/>
        </p:spPr>
        <p:txBody>
          <a:bodyPr wrap="square">
            <a:spAutoFit/>
          </a:bodyPr>
          <a:lstStyle/>
          <a:p>
            <a:r>
              <a:rPr lang="en-US" sz="18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U</a:t>
            </a:r>
            <a:endParaRPr lang="en-IN" dirty="0"/>
          </a:p>
        </p:txBody>
      </p:sp>
    </p:spTree>
    <p:extLst>
      <p:ext uri="{BB962C8B-B14F-4D97-AF65-F5344CB8AC3E}">
        <p14:creationId xmlns:p14="http://schemas.microsoft.com/office/powerpoint/2010/main" val="1120785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8B7167-83FC-1A59-68D2-630E2EF3F47E}"/>
              </a:ext>
            </a:extLst>
          </p:cNvPr>
          <p:cNvPicPr>
            <a:picLocks noChangeAspect="1"/>
          </p:cNvPicPr>
          <p:nvPr/>
        </p:nvPicPr>
        <p:blipFill>
          <a:blip r:embed="rId2"/>
          <a:stretch>
            <a:fillRect/>
          </a:stretch>
        </p:blipFill>
        <p:spPr>
          <a:xfrm>
            <a:off x="264638" y="620786"/>
            <a:ext cx="5616427" cy="5616427"/>
          </a:xfrm>
          <a:prstGeom prst="rect">
            <a:avLst/>
          </a:prstGeom>
        </p:spPr>
      </p:pic>
      <p:pic>
        <p:nvPicPr>
          <p:cNvPr id="5" name="Picture 4">
            <a:extLst>
              <a:ext uri="{FF2B5EF4-FFF2-40B4-BE49-F238E27FC236}">
                <a16:creationId xmlns:a16="http://schemas.microsoft.com/office/drawing/2014/main" id="{BAA7F074-C7CC-C7E4-EA0A-FDE5CFDC4F46}"/>
              </a:ext>
            </a:extLst>
          </p:cNvPr>
          <p:cNvPicPr>
            <a:picLocks noChangeAspect="1"/>
          </p:cNvPicPr>
          <p:nvPr/>
        </p:nvPicPr>
        <p:blipFill>
          <a:blip r:embed="rId3"/>
          <a:stretch>
            <a:fillRect/>
          </a:stretch>
        </p:blipFill>
        <p:spPr>
          <a:xfrm>
            <a:off x="6096000" y="777396"/>
            <a:ext cx="5951736" cy="5624047"/>
          </a:xfrm>
          <a:prstGeom prst="rect">
            <a:avLst/>
          </a:prstGeom>
        </p:spPr>
      </p:pic>
      <p:sp>
        <p:nvSpPr>
          <p:cNvPr id="4" name="TextBox 3">
            <a:extLst>
              <a:ext uri="{FF2B5EF4-FFF2-40B4-BE49-F238E27FC236}">
                <a16:creationId xmlns:a16="http://schemas.microsoft.com/office/drawing/2014/main" id="{F20EC675-A1DD-AC62-9C9E-925CB704A83A}"/>
              </a:ext>
            </a:extLst>
          </p:cNvPr>
          <p:cNvSpPr txBox="1"/>
          <p:nvPr/>
        </p:nvSpPr>
        <p:spPr>
          <a:xfrm>
            <a:off x="264638" y="115503"/>
            <a:ext cx="4624996" cy="461665"/>
          </a:xfrm>
          <a:prstGeom prst="rect">
            <a:avLst/>
          </a:prstGeom>
          <a:noFill/>
        </p:spPr>
        <p:txBody>
          <a:bodyPr wrap="square">
            <a:spAutoFit/>
          </a:bodyPr>
          <a:lstStyle/>
          <a:p>
            <a:pPr algn="l">
              <a:spcBef>
                <a:spcPts val="756"/>
              </a:spcBef>
              <a:spcAft>
                <a:spcPts val="504"/>
              </a:spcAft>
              <a:buNone/>
            </a:pPr>
            <a:r>
              <a:rPr lang="en-IN" sz="2400" b="0" i="0" dirty="0">
                <a:effectLst/>
                <a:latin typeface="Times New Roman" panose="02020603050405020304" pitchFamily="18" charset="0"/>
                <a:cs typeface="Times New Roman" panose="02020603050405020304" pitchFamily="18" charset="0"/>
              </a:rPr>
              <a:t>CATEGORICAL</a:t>
            </a:r>
          </a:p>
        </p:txBody>
      </p:sp>
    </p:spTree>
    <p:extLst>
      <p:ext uri="{BB962C8B-B14F-4D97-AF65-F5344CB8AC3E}">
        <p14:creationId xmlns:p14="http://schemas.microsoft.com/office/powerpoint/2010/main" val="1465140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FD006E-1B51-66C4-3868-12D69F30EFA6}"/>
              </a:ext>
            </a:extLst>
          </p:cNvPr>
          <p:cNvPicPr>
            <a:picLocks noChangeAspect="1"/>
          </p:cNvPicPr>
          <p:nvPr/>
        </p:nvPicPr>
        <p:blipFill>
          <a:blip r:embed="rId2"/>
          <a:stretch>
            <a:fillRect/>
          </a:stretch>
        </p:blipFill>
        <p:spPr>
          <a:xfrm>
            <a:off x="228092" y="448934"/>
            <a:ext cx="6058425" cy="5639289"/>
          </a:xfrm>
          <a:prstGeom prst="rect">
            <a:avLst/>
          </a:prstGeom>
        </p:spPr>
      </p:pic>
      <p:pic>
        <p:nvPicPr>
          <p:cNvPr id="5" name="Picture 4">
            <a:extLst>
              <a:ext uri="{FF2B5EF4-FFF2-40B4-BE49-F238E27FC236}">
                <a16:creationId xmlns:a16="http://schemas.microsoft.com/office/drawing/2014/main" id="{99FEF700-32FE-4290-8520-9BEDA188C830}"/>
              </a:ext>
            </a:extLst>
          </p:cNvPr>
          <p:cNvPicPr>
            <a:picLocks noChangeAspect="1"/>
          </p:cNvPicPr>
          <p:nvPr/>
        </p:nvPicPr>
        <p:blipFill>
          <a:blip r:embed="rId3"/>
          <a:stretch>
            <a:fillRect/>
          </a:stretch>
        </p:blipFill>
        <p:spPr>
          <a:xfrm>
            <a:off x="6096000" y="632217"/>
            <a:ext cx="5867908" cy="5593565"/>
          </a:xfrm>
          <a:prstGeom prst="rect">
            <a:avLst/>
          </a:prstGeom>
        </p:spPr>
      </p:pic>
    </p:spTree>
    <p:extLst>
      <p:ext uri="{BB962C8B-B14F-4D97-AF65-F5344CB8AC3E}">
        <p14:creationId xmlns:p14="http://schemas.microsoft.com/office/powerpoint/2010/main" val="34811044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0DA251-D638-DFAA-B050-946948698C18}"/>
              </a:ext>
            </a:extLst>
          </p:cNvPr>
          <p:cNvPicPr>
            <a:picLocks noChangeAspect="1"/>
          </p:cNvPicPr>
          <p:nvPr/>
        </p:nvPicPr>
        <p:blipFill>
          <a:blip r:embed="rId2"/>
          <a:stretch>
            <a:fillRect/>
          </a:stretch>
        </p:blipFill>
        <p:spPr>
          <a:xfrm>
            <a:off x="766140" y="636028"/>
            <a:ext cx="6264183" cy="5585944"/>
          </a:xfrm>
          <a:prstGeom prst="rect">
            <a:avLst/>
          </a:prstGeom>
        </p:spPr>
      </p:pic>
    </p:spTree>
    <p:extLst>
      <p:ext uri="{BB962C8B-B14F-4D97-AF65-F5344CB8AC3E}">
        <p14:creationId xmlns:p14="http://schemas.microsoft.com/office/powerpoint/2010/main" val="35830768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17F6DBB-0AAB-8973-CB18-A98846865C59}"/>
              </a:ext>
            </a:extLst>
          </p:cNvPr>
          <p:cNvSpPr/>
          <p:nvPr/>
        </p:nvSpPr>
        <p:spPr>
          <a:xfrm>
            <a:off x="-54230" y="272261"/>
            <a:ext cx="9830000" cy="707886"/>
          </a:xfrm>
          <a:prstGeom prst="rect">
            <a:avLst/>
          </a:prstGeom>
          <a:noFill/>
        </p:spPr>
        <p:txBody>
          <a:bodyPr wrap="non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8.Bivariate</a:t>
            </a:r>
            <a:r>
              <a:rPr lang="en-US" sz="4000" b="0" cap="none" spc="0" dirty="0">
                <a:ln w="0"/>
                <a:solidFill>
                  <a:schemeClr val="tx1"/>
                </a:solidFill>
                <a:effectLst>
                  <a:outerShdw blurRad="38100" dist="19050" dir="2700000" algn="tl" rotWithShape="0">
                    <a:schemeClr val="dk1">
                      <a:alpha val="40000"/>
                    </a:schemeClr>
                  </a:outerShdw>
                </a:effectLst>
              </a:rPr>
              <a:t> analysis – </a:t>
            </a:r>
            <a:r>
              <a:rPr lang="en-US" sz="4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categorical to categorical</a:t>
            </a:r>
          </a:p>
        </p:txBody>
      </p:sp>
      <p:sp>
        <p:nvSpPr>
          <p:cNvPr id="3" name="Rectangle 2">
            <a:extLst>
              <a:ext uri="{FF2B5EF4-FFF2-40B4-BE49-F238E27FC236}">
                <a16:creationId xmlns:a16="http://schemas.microsoft.com/office/drawing/2014/main" id="{15D27C5D-9331-C1DB-7C8C-3803E5CDB055}"/>
              </a:ext>
            </a:extLst>
          </p:cNvPr>
          <p:cNvSpPr/>
          <p:nvPr/>
        </p:nvSpPr>
        <p:spPr>
          <a:xfrm>
            <a:off x="99787" y="980147"/>
            <a:ext cx="4204998" cy="646331"/>
          </a:xfrm>
          <a:prstGeom prst="rect">
            <a:avLst/>
          </a:prstGeom>
          <a:no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1. </a:t>
            </a:r>
            <a:r>
              <a:rPr lang="en-US" sz="3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Survival vs Gender</a:t>
            </a:r>
          </a:p>
        </p:txBody>
      </p:sp>
      <p:pic>
        <p:nvPicPr>
          <p:cNvPr id="5" name="Picture 4">
            <a:extLst>
              <a:ext uri="{FF2B5EF4-FFF2-40B4-BE49-F238E27FC236}">
                <a16:creationId xmlns:a16="http://schemas.microsoft.com/office/drawing/2014/main" id="{A4856C01-D557-F4D7-4A69-30B282DC3FB4}"/>
              </a:ext>
            </a:extLst>
          </p:cNvPr>
          <p:cNvPicPr>
            <a:picLocks noChangeAspect="1"/>
          </p:cNvPicPr>
          <p:nvPr/>
        </p:nvPicPr>
        <p:blipFill>
          <a:blip r:embed="rId2"/>
          <a:stretch>
            <a:fillRect/>
          </a:stretch>
        </p:blipFill>
        <p:spPr>
          <a:xfrm>
            <a:off x="156533" y="1688032"/>
            <a:ext cx="6035563" cy="4343776"/>
          </a:xfrm>
          <a:prstGeom prst="rect">
            <a:avLst/>
          </a:prstGeom>
        </p:spPr>
      </p:pic>
      <p:sp>
        <p:nvSpPr>
          <p:cNvPr id="6" name="Rectangle 5">
            <a:extLst>
              <a:ext uri="{FF2B5EF4-FFF2-40B4-BE49-F238E27FC236}">
                <a16:creationId xmlns:a16="http://schemas.microsoft.com/office/drawing/2014/main" id="{9C6F76AD-B7CD-8FAC-EECC-B89AAD78B940}"/>
              </a:ext>
            </a:extLst>
          </p:cNvPr>
          <p:cNvSpPr/>
          <p:nvPr/>
        </p:nvSpPr>
        <p:spPr>
          <a:xfrm>
            <a:off x="6096000" y="1010924"/>
            <a:ext cx="4515082" cy="646331"/>
          </a:xfrm>
          <a:prstGeom prst="rect">
            <a:avLst/>
          </a:prstGeom>
          <a:noFill/>
        </p:spPr>
        <p:txBody>
          <a:bodyPr wrap="none" lIns="91440" tIns="45720" rIns="91440" bIns="45720">
            <a:spAutoFit/>
          </a:bodyPr>
          <a:lstStyle/>
          <a:p>
            <a:pPr algn="ctr"/>
            <a:r>
              <a:rPr lang="en-US" sz="3600" dirty="0">
                <a:ln w="0"/>
                <a:effectLst>
                  <a:outerShdw blurRad="38100" dist="19050" dir="2700000" algn="tl" rotWithShape="0">
                    <a:schemeClr val="dk1">
                      <a:alpha val="40000"/>
                    </a:schemeClr>
                  </a:outerShdw>
                </a:effectLst>
              </a:rPr>
              <a:t>2. Gender vs </a:t>
            </a:r>
            <a:r>
              <a:rPr lang="en-US" sz="36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Embarked</a:t>
            </a:r>
            <a:endParaRPr lang="en-US" sz="3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1940FC9-0173-98D0-3631-15C32CCAFE5A}"/>
              </a:ext>
            </a:extLst>
          </p:cNvPr>
          <p:cNvPicPr>
            <a:picLocks noChangeAspect="1"/>
          </p:cNvPicPr>
          <p:nvPr/>
        </p:nvPicPr>
        <p:blipFill>
          <a:blip r:embed="rId3"/>
          <a:stretch>
            <a:fillRect/>
          </a:stretch>
        </p:blipFill>
        <p:spPr>
          <a:xfrm>
            <a:off x="5992283" y="1810551"/>
            <a:ext cx="6043184" cy="4282811"/>
          </a:xfrm>
          <a:prstGeom prst="rect">
            <a:avLst/>
          </a:prstGeom>
        </p:spPr>
      </p:pic>
    </p:spTree>
    <p:extLst>
      <p:ext uri="{BB962C8B-B14F-4D97-AF65-F5344CB8AC3E}">
        <p14:creationId xmlns:p14="http://schemas.microsoft.com/office/powerpoint/2010/main" val="18682676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E7D2DC-6B98-236B-4029-052882E4DFB8}"/>
              </a:ext>
            </a:extLst>
          </p:cNvPr>
          <p:cNvSpPr/>
          <p:nvPr/>
        </p:nvSpPr>
        <p:spPr>
          <a:xfrm>
            <a:off x="449483" y="432683"/>
            <a:ext cx="3785331" cy="646331"/>
          </a:xfrm>
          <a:prstGeom prst="rect">
            <a:avLst/>
          </a:prstGeom>
          <a:no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3. </a:t>
            </a:r>
            <a:r>
              <a:rPr lang="en-US" sz="3600" cap="none" spc="0" dirty="0">
                <a:ln w="0"/>
                <a:solidFill>
                  <a:schemeClr val="tx1"/>
                </a:solidFill>
                <a:effectLst>
                  <a:outerShdw blurRad="38100" dist="19050" dir="2700000" algn="tl" rotWithShape="0">
                    <a:schemeClr val="dk1">
                      <a:alpha val="40000"/>
                    </a:schemeClr>
                  </a:outerShdw>
                </a:effectLst>
              </a:rPr>
              <a:t>Survival </a:t>
            </a:r>
            <a:r>
              <a:rPr lang="en-US" sz="280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vs</a:t>
            </a:r>
            <a:r>
              <a:rPr lang="en-US" sz="3600" cap="none" spc="0" dirty="0">
                <a:ln w="0"/>
                <a:solidFill>
                  <a:schemeClr val="tx1"/>
                </a:solidFill>
                <a:effectLst>
                  <a:outerShdw blurRad="38100" dist="19050" dir="2700000" algn="tl" rotWithShape="0">
                    <a:schemeClr val="dk1">
                      <a:alpha val="40000"/>
                    </a:schemeClr>
                  </a:outerShdw>
                </a:effectLst>
              </a:rPr>
              <a:t> Alone</a:t>
            </a:r>
          </a:p>
        </p:txBody>
      </p:sp>
      <p:pic>
        <p:nvPicPr>
          <p:cNvPr id="6" name="Picture 5">
            <a:extLst>
              <a:ext uri="{FF2B5EF4-FFF2-40B4-BE49-F238E27FC236}">
                <a16:creationId xmlns:a16="http://schemas.microsoft.com/office/drawing/2014/main" id="{CB9FEA1C-911B-6AA7-2EAA-62394812AFA1}"/>
              </a:ext>
            </a:extLst>
          </p:cNvPr>
          <p:cNvPicPr>
            <a:picLocks noChangeAspect="1"/>
          </p:cNvPicPr>
          <p:nvPr/>
        </p:nvPicPr>
        <p:blipFill>
          <a:blip r:embed="rId2"/>
          <a:stretch>
            <a:fillRect/>
          </a:stretch>
        </p:blipFill>
        <p:spPr>
          <a:xfrm>
            <a:off x="146517" y="1079014"/>
            <a:ext cx="6187976" cy="4412362"/>
          </a:xfrm>
          <a:prstGeom prst="rect">
            <a:avLst/>
          </a:prstGeom>
        </p:spPr>
      </p:pic>
      <p:sp>
        <p:nvSpPr>
          <p:cNvPr id="7" name="Rectangle 6">
            <a:extLst>
              <a:ext uri="{FF2B5EF4-FFF2-40B4-BE49-F238E27FC236}">
                <a16:creationId xmlns:a16="http://schemas.microsoft.com/office/drawing/2014/main" id="{1563D62B-D160-68A7-11B8-9FF2AB301FC5}"/>
              </a:ext>
            </a:extLst>
          </p:cNvPr>
          <p:cNvSpPr/>
          <p:nvPr/>
        </p:nvSpPr>
        <p:spPr>
          <a:xfrm>
            <a:off x="6096000" y="494238"/>
            <a:ext cx="4719497" cy="523220"/>
          </a:xfrm>
          <a:prstGeom prst="rect">
            <a:avLst/>
          </a:prstGeom>
          <a:noFill/>
        </p:spPr>
        <p:txBody>
          <a:bodyPr wrap="none" lIns="91440" tIns="45720" rIns="91440" bIns="45720">
            <a:spAutoFit/>
          </a:bodyPr>
          <a:lstStyle/>
          <a:p>
            <a:pPr algn="ctr"/>
            <a:r>
              <a:rPr lang="en-US" sz="2800" b="0" cap="none" spc="0" dirty="0">
                <a:ln w="0"/>
                <a:solidFill>
                  <a:schemeClr val="tx1"/>
                </a:solidFill>
                <a:effectLst>
                  <a:outerShdw blurRad="38100" dist="19050" dir="2700000" algn="tl" rotWithShape="0">
                    <a:schemeClr val="dk1">
                      <a:alpha val="40000"/>
                    </a:schemeClr>
                  </a:outerShdw>
                </a:effectLst>
              </a:rPr>
              <a:t>4. </a:t>
            </a:r>
            <a:r>
              <a:rPr lang="en-US" sz="28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Embarked</a:t>
            </a:r>
            <a:r>
              <a:rPr lang="en-US" sz="2800" b="0" cap="none" spc="0" dirty="0">
                <a:ln w="0"/>
                <a:solidFill>
                  <a:schemeClr val="tx1"/>
                </a:solidFill>
                <a:effectLst>
                  <a:outerShdw blurRad="38100" dist="19050" dir="2700000" algn="tl" rotWithShape="0">
                    <a:schemeClr val="dk1">
                      <a:alpha val="40000"/>
                    </a:schemeClr>
                  </a:outerShdw>
                </a:effectLst>
              </a:rPr>
              <a:t> vs </a:t>
            </a:r>
            <a:r>
              <a:rPr lang="en-US" sz="28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passenger</a:t>
            </a:r>
            <a:r>
              <a:rPr lang="en-US" sz="2800" b="0" cap="none" spc="0" dirty="0">
                <a:ln w="0"/>
                <a:solidFill>
                  <a:schemeClr val="tx1"/>
                </a:solidFill>
                <a:effectLst>
                  <a:outerShdw blurRad="38100" dist="19050" dir="2700000" algn="tl" rotWithShape="0">
                    <a:schemeClr val="dk1">
                      <a:alpha val="40000"/>
                    </a:schemeClr>
                  </a:outerShdw>
                </a:effectLst>
              </a:rPr>
              <a:t> class</a:t>
            </a:r>
          </a:p>
        </p:txBody>
      </p:sp>
      <p:pic>
        <p:nvPicPr>
          <p:cNvPr id="9" name="Picture 8">
            <a:extLst>
              <a:ext uri="{FF2B5EF4-FFF2-40B4-BE49-F238E27FC236}">
                <a16:creationId xmlns:a16="http://schemas.microsoft.com/office/drawing/2014/main" id="{4AAC0014-FA70-5A65-09ED-2978435BED02}"/>
              </a:ext>
            </a:extLst>
          </p:cNvPr>
          <p:cNvPicPr>
            <a:picLocks noChangeAspect="1"/>
          </p:cNvPicPr>
          <p:nvPr/>
        </p:nvPicPr>
        <p:blipFill>
          <a:blip r:embed="rId3"/>
          <a:stretch>
            <a:fillRect/>
          </a:stretch>
        </p:blipFill>
        <p:spPr>
          <a:xfrm>
            <a:off x="5857120" y="1366624"/>
            <a:ext cx="5867908" cy="4336156"/>
          </a:xfrm>
          <a:prstGeom prst="rect">
            <a:avLst/>
          </a:prstGeom>
        </p:spPr>
      </p:pic>
    </p:spTree>
    <p:extLst>
      <p:ext uri="{BB962C8B-B14F-4D97-AF65-F5344CB8AC3E}">
        <p14:creationId xmlns:p14="http://schemas.microsoft.com/office/powerpoint/2010/main" val="2752416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3B2DA4-6076-428B-F5AB-72C9672503A9}"/>
              </a:ext>
            </a:extLst>
          </p:cNvPr>
          <p:cNvSpPr/>
          <p:nvPr/>
        </p:nvSpPr>
        <p:spPr>
          <a:xfrm>
            <a:off x="229244" y="159967"/>
            <a:ext cx="4514569" cy="646331"/>
          </a:xfrm>
          <a:prstGeom prst="rect">
            <a:avLst/>
          </a:prstGeom>
          <a:noFill/>
        </p:spPr>
        <p:txBody>
          <a:bodyPr wrap="none" lIns="91440" tIns="45720" rIns="91440" bIns="45720">
            <a:spAutoFit/>
          </a:bodyPr>
          <a:lstStyle/>
          <a:p>
            <a:pPr algn="ctr"/>
            <a:r>
              <a:rPr lang="en-US" sz="3600" b="0" cap="none" spc="0" dirty="0">
                <a:ln w="0"/>
                <a:solidFill>
                  <a:schemeClr val="tx1"/>
                </a:solidFill>
                <a:effectLst>
                  <a:outerShdw blurRad="38100" dist="19050" dir="2700000" algn="tl" rotWithShape="0">
                    <a:schemeClr val="dk1">
                      <a:alpha val="40000"/>
                    </a:schemeClr>
                  </a:outerShdw>
                </a:effectLst>
              </a:rPr>
              <a:t>5. Who vs Embarkation</a:t>
            </a:r>
          </a:p>
        </p:txBody>
      </p:sp>
      <p:pic>
        <p:nvPicPr>
          <p:cNvPr id="4" name="Picture 3">
            <a:extLst>
              <a:ext uri="{FF2B5EF4-FFF2-40B4-BE49-F238E27FC236}">
                <a16:creationId xmlns:a16="http://schemas.microsoft.com/office/drawing/2014/main" id="{B1B9363B-5B9F-DD66-E13A-CDD94D243EDB}"/>
              </a:ext>
            </a:extLst>
          </p:cNvPr>
          <p:cNvPicPr>
            <a:picLocks noChangeAspect="1"/>
          </p:cNvPicPr>
          <p:nvPr/>
        </p:nvPicPr>
        <p:blipFill>
          <a:blip r:embed="rId2"/>
          <a:stretch>
            <a:fillRect/>
          </a:stretch>
        </p:blipFill>
        <p:spPr>
          <a:xfrm>
            <a:off x="511287" y="1306646"/>
            <a:ext cx="5875529" cy="4244708"/>
          </a:xfrm>
          <a:prstGeom prst="rect">
            <a:avLst/>
          </a:prstGeom>
        </p:spPr>
      </p:pic>
    </p:spTree>
    <p:extLst>
      <p:ext uri="{BB962C8B-B14F-4D97-AF65-F5344CB8AC3E}">
        <p14:creationId xmlns:p14="http://schemas.microsoft.com/office/powerpoint/2010/main" val="1016334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4ED03D-6108-2ECD-2871-A9E63C5CE4AA}"/>
              </a:ext>
            </a:extLst>
          </p:cNvPr>
          <p:cNvSpPr txBox="1"/>
          <p:nvPr/>
        </p:nvSpPr>
        <p:spPr>
          <a:xfrm>
            <a:off x="0" y="0"/>
            <a:ext cx="11514221" cy="1392689"/>
          </a:xfrm>
          <a:prstGeom prst="rect">
            <a:avLst/>
          </a:prstGeom>
          <a:noFill/>
        </p:spPr>
        <p:txBody>
          <a:bodyPr wrap="square">
            <a:spAutoFit/>
          </a:bodyPr>
          <a:lstStyle/>
          <a:p>
            <a:pPr>
              <a:spcBef>
                <a:spcPts val="907"/>
              </a:spcBef>
              <a:spcAft>
                <a:spcPts val="605"/>
              </a:spcAft>
            </a:pPr>
            <a:r>
              <a:rPr lang="en-IN" sz="3600" b="0" i="0" dirty="0">
                <a:effectLst/>
                <a:latin typeface="Times New Roman" panose="02020603050405020304" pitchFamily="18" charset="0"/>
                <a:cs typeface="Times New Roman" panose="02020603050405020304" pitchFamily="18" charset="0"/>
              </a:rPr>
              <a:t>Visual Bivariate Analysis - </a:t>
            </a:r>
            <a:r>
              <a:rPr lang="en-IN" sz="3600" dirty="0">
                <a:latin typeface="Times New Roman" panose="02020603050405020304" pitchFamily="18" charset="0"/>
                <a:cs typeface="Times New Roman" panose="02020603050405020304" pitchFamily="18" charset="0"/>
              </a:rPr>
              <a:t>Numerical to Numerical</a:t>
            </a:r>
          </a:p>
          <a:p>
            <a:pPr algn="l">
              <a:spcBef>
                <a:spcPts val="907"/>
              </a:spcBef>
              <a:spcAft>
                <a:spcPts val="605"/>
              </a:spcAft>
              <a:buNone/>
            </a:pPr>
            <a:endParaRPr lang="en-IN" sz="3600" b="0" i="0" dirty="0">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0B3DB33F-A58A-0AE7-3176-83584223E6D5}"/>
              </a:ext>
            </a:extLst>
          </p:cNvPr>
          <p:cNvPicPr>
            <a:picLocks noChangeAspect="1"/>
          </p:cNvPicPr>
          <p:nvPr/>
        </p:nvPicPr>
        <p:blipFill>
          <a:blip r:embed="rId2"/>
          <a:stretch>
            <a:fillRect/>
          </a:stretch>
        </p:blipFill>
        <p:spPr>
          <a:xfrm>
            <a:off x="665992" y="818146"/>
            <a:ext cx="10768821" cy="5800682"/>
          </a:xfrm>
          <a:prstGeom prst="rect">
            <a:avLst/>
          </a:prstGeom>
        </p:spPr>
      </p:pic>
    </p:spTree>
    <p:extLst>
      <p:ext uri="{BB962C8B-B14F-4D97-AF65-F5344CB8AC3E}">
        <p14:creationId xmlns:p14="http://schemas.microsoft.com/office/powerpoint/2010/main" val="8533553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CD5AE0-DC7E-53C1-1136-711DD1A006A3}"/>
              </a:ext>
            </a:extLst>
          </p:cNvPr>
          <p:cNvPicPr>
            <a:picLocks noChangeAspect="1"/>
          </p:cNvPicPr>
          <p:nvPr/>
        </p:nvPicPr>
        <p:blipFill>
          <a:blip r:embed="rId2"/>
          <a:stretch>
            <a:fillRect/>
          </a:stretch>
        </p:blipFill>
        <p:spPr>
          <a:xfrm>
            <a:off x="780308" y="137653"/>
            <a:ext cx="10631384" cy="6582694"/>
          </a:xfrm>
          <a:prstGeom prst="rect">
            <a:avLst/>
          </a:prstGeom>
        </p:spPr>
      </p:pic>
    </p:spTree>
    <p:extLst>
      <p:ext uri="{BB962C8B-B14F-4D97-AF65-F5344CB8AC3E}">
        <p14:creationId xmlns:p14="http://schemas.microsoft.com/office/powerpoint/2010/main" val="24751667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B5762B-4B22-B08A-4E89-CE71A8A878AD}"/>
              </a:ext>
            </a:extLst>
          </p:cNvPr>
          <p:cNvSpPr txBox="1"/>
          <p:nvPr/>
        </p:nvSpPr>
        <p:spPr>
          <a:xfrm>
            <a:off x="257474" y="0"/>
            <a:ext cx="11417969" cy="646331"/>
          </a:xfrm>
          <a:prstGeom prst="rect">
            <a:avLst/>
          </a:prstGeom>
          <a:noFill/>
        </p:spPr>
        <p:txBody>
          <a:bodyPr wrap="square">
            <a:spAutoFit/>
          </a:bodyPr>
          <a:lstStyle/>
          <a:p>
            <a:pPr algn="l">
              <a:spcBef>
                <a:spcPts val="756"/>
              </a:spcBef>
              <a:spcAft>
                <a:spcPts val="504"/>
              </a:spcAft>
              <a:buNone/>
            </a:pPr>
            <a:r>
              <a:rPr lang="en-IN" sz="3600" b="0" i="0" dirty="0">
                <a:effectLst/>
                <a:latin typeface="Times New Roman" panose="02020603050405020304" pitchFamily="18" charset="0"/>
                <a:cs typeface="Times New Roman" panose="02020603050405020304" pitchFamily="18" charset="0"/>
              </a:rPr>
              <a:t>Numerical - Categorical OR Categorical- Numerical</a:t>
            </a:r>
          </a:p>
        </p:txBody>
      </p:sp>
      <p:pic>
        <p:nvPicPr>
          <p:cNvPr id="5" name="Picture 4">
            <a:extLst>
              <a:ext uri="{FF2B5EF4-FFF2-40B4-BE49-F238E27FC236}">
                <a16:creationId xmlns:a16="http://schemas.microsoft.com/office/drawing/2014/main" id="{D0643E3D-DDCA-072E-04B9-D4DF8F811029}"/>
              </a:ext>
            </a:extLst>
          </p:cNvPr>
          <p:cNvPicPr>
            <a:picLocks noChangeAspect="1"/>
          </p:cNvPicPr>
          <p:nvPr/>
        </p:nvPicPr>
        <p:blipFill>
          <a:blip r:embed="rId2"/>
          <a:stretch>
            <a:fillRect/>
          </a:stretch>
        </p:blipFill>
        <p:spPr>
          <a:xfrm>
            <a:off x="698388" y="721895"/>
            <a:ext cx="8561115" cy="6025414"/>
          </a:xfrm>
          <a:prstGeom prst="rect">
            <a:avLst/>
          </a:prstGeom>
        </p:spPr>
      </p:pic>
    </p:spTree>
    <p:extLst>
      <p:ext uri="{BB962C8B-B14F-4D97-AF65-F5344CB8AC3E}">
        <p14:creationId xmlns:p14="http://schemas.microsoft.com/office/powerpoint/2010/main" val="3011697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E2BD62-5B45-6910-8C0C-0F6C8A32ADD6}"/>
              </a:ext>
            </a:extLst>
          </p:cNvPr>
          <p:cNvPicPr>
            <a:picLocks noChangeAspect="1"/>
          </p:cNvPicPr>
          <p:nvPr/>
        </p:nvPicPr>
        <p:blipFill>
          <a:blip r:embed="rId2"/>
          <a:stretch>
            <a:fillRect/>
          </a:stretch>
        </p:blipFill>
        <p:spPr>
          <a:xfrm>
            <a:off x="1126156" y="190048"/>
            <a:ext cx="9355755" cy="6477904"/>
          </a:xfrm>
          <a:prstGeom prst="rect">
            <a:avLst/>
          </a:prstGeom>
        </p:spPr>
      </p:pic>
    </p:spTree>
    <p:extLst>
      <p:ext uri="{BB962C8B-B14F-4D97-AF65-F5344CB8AC3E}">
        <p14:creationId xmlns:p14="http://schemas.microsoft.com/office/powerpoint/2010/main" val="12596410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6FAA6F-BFC2-6A34-E0CC-BBE6D0D94D1E}"/>
              </a:ext>
            </a:extLst>
          </p:cNvPr>
          <p:cNvPicPr>
            <a:picLocks noChangeAspect="1"/>
          </p:cNvPicPr>
          <p:nvPr/>
        </p:nvPicPr>
        <p:blipFill>
          <a:blip r:embed="rId2"/>
          <a:stretch>
            <a:fillRect/>
          </a:stretch>
        </p:blipFill>
        <p:spPr>
          <a:xfrm>
            <a:off x="837397" y="122572"/>
            <a:ext cx="9904396" cy="6458851"/>
          </a:xfrm>
          <a:prstGeom prst="rect">
            <a:avLst/>
          </a:prstGeom>
        </p:spPr>
      </p:pic>
    </p:spTree>
    <p:extLst>
      <p:ext uri="{BB962C8B-B14F-4D97-AF65-F5344CB8AC3E}">
        <p14:creationId xmlns:p14="http://schemas.microsoft.com/office/powerpoint/2010/main" val="1589517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9B8C3E-A553-C109-6056-783134D35A61}"/>
              </a:ext>
            </a:extLst>
          </p:cNvPr>
          <p:cNvPicPr>
            <a:picLocks noChangeAspect="1"/>
          </p:cNvPicPr>
          <p:nvPr/>
        </p:nvPicPr>
        <p:blipFill>
          <a:blip r:embed="rId2"/>
          <a:stretch>
            <a:fillRect/>
          </a:stretch>
        </p:blipFill>
        <p:spPr>
          <a:xfrm>
            <a:off x="1645921" y="99548"/>
            <a:ext cx="8604984" cy="6658904"/>
          </a:xfrm>
          <a:prstGeom prst="rect">
            <a:avLst/>
          </a:prstGeom>
        </p:spPr>
      </p:pic>
    </p:spTree>
    <p:extLst>
      <p:ext uri="{BB962C8B-B14F-4D97-AF65-F5344CB8AC3E}">
        <p14:creationId xmlns:p14="http://schemas.microsoft.com/office/powerpoint/2010/main" val="41693521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1028DB-CBCB-BC8D-84A6-1E6E4B15418D}"/>
              </a:ext>
            </a:extLst>
          </p:cNvPr>
          <p:cNvSpPr/>
          <p:nvPr/>
        </p:nvSpPr>
        <p:spPr>
          <a:xfrm>
            <a:off x="346028" y="0"/>
            <a:ext cx="5942332" cy="923330"/>
          </a:xfrm>
          <a:prstGeom prst="rect">
            <a:avLst/>
          </a:prstGeom>
          <a:noFill/>
        </p:spPr>
        <p:txBody>
          <a:bodyPr wrap="non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9.Multivariate</a:t>
            </a:r>
            <a:r>
              <a:rPr lang="en-US" sz="5400" b="0" cap="none" spc="0" dirty="0">
                <a:ln w="0"/>
                <a:solidFill>
                  <a:schemeClr val="tx1"/>
                </a:solidFill>
                <a:effectLst>
                  <a:outerShdw blurRad="38100" dist="19050" dir="2700000" algn="tl" rotWithShape="0">
                    <a:schemeClr val="dk1">
                      <a:alpha val="40000"/>
                    </a:schemeClr>
                  </a:outerShdw>
                </a:effectLst>
              </a:rPr>
              <a:t> </a:t>
            </a:r>
            <a:r>
              <a:rPr lang="en-US" sz="4000" b="0" cap="none" spc="0" dirty="0" err="1">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Visualisation</a:t>
            </a:r>
            <a:endParaRPr lang="en-US" sz="40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D7AADAD-A3E1-4AE4-7181-3F9849B9678B}"/>
              </a:ext>
            </a:extLst>
          </p:cNvPr>
          <p:cNvPicPr>
            <a:picLocks noChangeAspect="1"/>
          </p:cNvPicPr>
          <p:nvPr/>
        </p:nvPicPr>
        <p:blipFill>
          <a:blip r:embed="rId2"/>
          <a:stretch>
            <a:fillRect/>
          </a:stretch>
        </p:blipFill>
        <p:spPr>
          <a:xfrm>
            <a:off x="137329" y="1046564"/>
            <a:ext cx="5958672" cy="5565331"/>
          </a:xfrm>
          <a:prstGeom prst="rect">
            <a:avLst/>
          </a:prstGeom>
        </p:spPr>
      </p:pic>
      <p:pic>
        <p:nvPicPr>
          <p:cNvPr id="9" name="Picture 8">
            <a:extLst>
              <a:ext uri="{FF2B5EF4-FFF2-40B4-BE49-F238E27FC236}">
                <a16:creationId xmlns:a16="http://schemas.microsoft.com/office/drawing/2014/main" id="{9113299B-0029-D1CA-196F-472D0DAF307B}"/>
              </a:ext>
            </a:extLst>
          </p:cNvPr>
          <p:cNvPicPr>
            <a:picLocks noChangeAspect="1"/>
          </p:cNvPicPr>
          <p:nvPr/>
        </p:nvPicPr>
        <p:blipFill>
          <a:blip r:embed="rId3"/>
          <a:stretch>
            <a:fillRect/>
          </a:stretch>
        </p:blipFill>
        <p:spPr>
          <a:xfrm>
            <a:off x="6233328" y="375811"/>
            <a:ext cx="5821343" cy="6482189"/>
          </a:xfrm>
          <a:prstGeom prst="rect">
            <a:avLst/>
          </a:prstGeom>
        </p:spPr>
      </p:pic>
    </p:spTree>
    <p:extLst>
      <p:ext uri="{BB962C8B-B14F-4D97-AF65-F5344CB8AC3E}">
        <p14:creationId xmlns:p14="http://schemas.microsoft.com/office/powerpoint/2010/main" val="22615382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1D5B079-4B0C-1221-B430-7412150041C6}"/>
              </a:ext>
            </a:extLst>
          </p:cNvPr>
          <p:cNvPicPr>
            <a:picLocks noChangeAspect="1"/>
          </p:cNvPicPr>
          <p:nvPr/>
        </p:nvPicPr>
        <p:blipFill>
          <a:blip r:embed="rId2"/>
          <a:stretch>
            <a:fillRect/>
          </a:stretch>
        </p:blipFill>
        <p:spPr>
          <a:xfrm>
            <a:off x="355600" y="381000"/>
            <a:ext cx="11315700" cy="6202135"/>
          </a:xfrm>
          <a:prstGeom prst="rect">
            <a:avLst/>
          </a:prstGeom>
        </p:spPr>
      </p:pic>
    </p:spTree>
    <p:extLst>
      <p:ext uri="{BB962C8B-B14F-4D97-AF65-F5344CB8AC3E}">
        <p14:creationId xmlns:p14="http://schemas.microsoft.com/office/powerpoint/2010/main" val="13201684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2637BE-84A9-5BB7-2D9B-86A08673E943}"/>
              </a:ext>
            </a:extLst>
          </p:cNvPr>
          <p:cNvPicPr>
            <a:picLocks noChangeAspect="1"/>
          </p:cNvPicPr>
          <p:nvPr/>
        </p:nvPicPr>
        <p:blipFill>
          <a:blip r:embed="rId2"/>
          <a:stretch>
            <a:fillRect/>
          </a:stretch>
        </p:blipFill>
        <p:spPr>
          <a:xfrm>
            <a:off x="635267" y="448957"/>
            <a:ext cx="10645541" cy="5960086"/>
          </a:xfrm>
          <a:prstGeom prst="rect">
            <a:avLst/>
          </a:prstGeom>
        </p:spPr>
      </p:pic>
    </p:spTree>
    <p:extLst>
      <p:ext uri="{BB962C8B-B14F-4D97-AF65-F5344CB8AC3E}">
        <p14:creationId xmlns:p14="http://schemas.microsoft.com/office/powerpoint/2010/main" val="30835787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FD4574-A287-3F79-4849-D8E15026596C}"/>
              </a:ext>
            </a:extLst>
          </p:cNvPr>
          <p:cNvPicPr>
            <a:picLocks noChangeAspect="1"/>
          </p:cNvPicPr>
          <p:nvPr/>
        </p:nvPicPr>
        <p:blipFill>
          <a:blip r:embed="rId2"/>
          <a:stretch>
            <a:fillRect/>
          </a:stretch>
        </p:blipFill>
        <p:spPr>
          <a:xfrm>
            <a:off x="3118586" y="96308"/>
            <a:ext cx="5515276" cy="6600113"/>
          </a:xfrm>
          <a:prstGeom prst="rect">
            <a:avLst/>
          </a:prstGeom>
        </p:spPr>
      </p:pic>
    </p:spTree>
    <p:extLst>
      <p:ext uri="{BB962C8B-B14F-4D97-AF65-F5344CB8AC3E}">
        <p14:creationId xmlns:p14="http://schemas.microsoft.com/office/powerpoint/2010/main" val="20896642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50BC07-C95B-9B79-AD1A-400D9151B306}"/>
              </a:ext>
            </a:extLst>
          </p:cNvPr>
          <p:cNvSpPr txBox="1"/>
          <p:nvPr/>
        </p:nvSpPr>
        <p:spPr>
          <a:xfrm>
            <a:off x="327259" y="719284"/>
            <a:ext cx="11511816" cy="5696431"/>
          </a:xfrm>
          <a:prstGeom prst="rect">
            <a:avLst/>
          </a:prstGeom>
          <a:noFill/>
        </p:spPr>
        <p:txBody>
          <a:bodyPr wrap="square">
            <a:spAutoFit/>
          </a:bodyPr>
          <a:lstStyle/>
          <a:p>
            <a:pPr algn="l">
              <a:spcBef>
                <a:spcPts val="756"/>
              </a:spcBef>
              <a:spcAft>
                <a:spcPts val="504"/>
              </a:spcAft>
              <a:buNone/>
            </a:pPr>
            <a:r>
              <a:rPr lang="en-US" b="0" i="0" dirty="0">
                <a:effectLst/>
                <a:latin typeface="system-ui"/>
              </a:rPr>
              <a:t>PHASE-2 SUMMARY:</a:t>
            </a:r>
          </a:p>
          <a:p>
            <a:pPr algn="l">
              <a:buNone/>
            </a:pPr>
            <a:r>
              <a:rPr lang="en-US" b="0" i="0" dirty="0">
                <a:effectLst/>
                <a:latin typeface="system-ui"/>
              </a:rPr>
              <a:t>The initial Titanic dataset contained several data quality issues that required attention before analysis. Missing values were observed in key columns such as age, embarked, deck, and </a:t>
            </a:r>
            <a:r>
              <a:rPr lang="en-US" b="0" i="0" dirty="0" err="1">
                <a:effectLst/>
                <a:latin typeface="system-ui"/>
              </a:rPr>
              <a:t>embark_town</a:t>
            </a:r>
            <a:r>
              <a:rPr lang="en-US" b="0" i="0" dirty="0">
                <a:effectLst/>
                <a:latin typeface="system-ui"/>
              </a:rPr>
              <a:t>, with the deck column having a large proportion of missing entries. Additionally, duplicate records were identified and removed to prevent skewed results.</a:t>
            </a:r>
          </a:p>
          <a:p>
            <a:pPr algn="just">
              <a:buNone/>
            </a:pPr>
            <a:r>
              <a:rPr lang="en-US" b="0" i="0" dirty="0">
                <a:effectLst/>
                <a:latin typeface="system-ui"/>
              </a:rPr>
              <a:t>Missing values were handled using appropriate strategies based on data type and significance. Numerical missing values in age were imputed using the median to avoid the impact of outliers. Categorical missing values in embarked and </a:t>
            </a:r>
            <a:r>
              <a:rPr lang="en-US" b="0" i="0" dirty="0" err="1">
                <a:effectLst/>
                <a:latin typeface="system-ui"/>
              </a:rPr>
              <a:t>embark_town</a:t>
            </a:r>
            <a:r>
              <a:rPr lang="en-US" b="0" i="0" dirty="0">
                <a:effectLst/>
                <a:latin typeface="system-ui"/>
              </a:rPr>
              <a:t> were filled using the mode, while missing values in deck were replaced with the most frequent category to preserve structural information. Duplicate rows were removed, and categorical inconsistencies such as extra spaces and formatting issues were resolved. Repeated text columns were also converted to categorical data types to improve efficiency and clarity.</a:t>
            </a:r>
          </a:p>
          <a:p>
            <a:pPr algn="l">
              <a:buNone/>
            </a:pPr>
            <a:r>
              <a:rPr lang="en-US" b="0" i="0" dirty="0">
                <a:effectLst/>
                <a:latin typeface="system-ui"/>
              </a:rPr>
              <a:t>Non-visual bivariate analysis revealed meaningful relationships between variables. Survival was strongly influenced by gender, passenger class, and fare, with females and first-class passengers showing higher survival rates. Fare was positively associated with survival, while age alone showed limited influence. Family-related variables such as </a:t>
            </a:r>
            <a:r>
              <a:rPr lang="en-US" b="0" i="0" dirty="0" err="1">
                <a:effectLst/>
                <a:latin typeface="system-ui"/>
              </a:rPr>
              <a:t>sibsp</a:t>
            </a:r>
            <a:r>
              <a:rPr lang="en-US" b="0" i="0" dirty="0">
                <a:effectLst/>
                <a:latin typeface="system-ui"/>
              </a:rPr>
              <a:t> and parch displayed a positive relationship, indicating that passengers often traveled in family groups.</a:t>
            </a:r>
          </a:p>
          <a:p>
            <a:pPr algn="l">
              <a:buNone/>
            </a:pPr>
            <a:r>
              <a:rPr lang="en-US" b="0" i="0" dirty="0">
                <a:effectLst/>
                <a:latin typeface="system-ui"/>
              </a:rPr>
              <a:t>Visualization analysis revealed clear patterns in passenger demographics and survival outcomes. Univariate plots showed most passengers were aged 20–40, while fare distribution was highly right-skewed. Bivariate analysis indicated that females and higher-fare passengers had better survival rates. Survivors were generally slightly younger than non-survivors. Multivariate visualizations highlighted how passenger class, embarkation port, and passenger type jointly influenced survival and travel patterns. Overall, visual analysis provided meaningful insights into factors affecting passenger outcomes.</a:t>
            </a:r>
          </a:p>
        </p:txBody>
      </p:sp>
    </p:spTree>
    <p:extLst>
      <p:ext uri="{BB962C8B-B14F-4D97-AF65-F5344CB8AC3E}">
        <p14:creationId xmlns:p14="http://schemas.microsoft.com/office/powerpoint/2010/main" val="1654147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10A2E8-067B-D601-FA9B-E6AC9D6425BF}"/>
              </a:ext>
            </a:extLst>
          </p:cNvPr>
          <p:cNvSpPr txBox="1"/>
          <p:nvPr/>
        </p:nvSpPr>
        <p:spPr>
          <a:xfrm>
            <a:off x="3301465" y="2569945"/>
            <a:ext cx="6448927" cy="1569660"/>
          </a:xfrm>
          <a:prstGeom prst="rect">
            <a:avLst/>
          </a:prstGeom>
          <a:noFill/>
        </p:spPr>
        <p:txBody>
          <a:bodyPr wrap="square" rtlCol="0">
            <a:spAutoFit/>
          </a:bodyPr>
          <a:lstStyle/>
          <a:p>
            <a:r>
              <a:rPr lang="en-IN" sz="96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9536796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705</TotalTime>
  <Words>782</Words>
  <Application>Microsoft Office PowerPoint</Application>
  <PresentationFormat>Widescreen</PresentationFormat>
  <Paragraphs>66</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Calibri Light</vt:lpstr>
      <vt:lpstr>system-ui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Satyanjani Gubbala</dc:creator>
  <cp:lastModifiedBy>Satyanjani Gubbala</cp:lastModifiedBy>
  <cp:revision>6</cp:revision>
  <dcterms:created xsi:type="dcterms:W3CDTF">2026-01-04T06:33:07Z</dcterms:created>
  <dcterms:modified xsi:type="dcterms:W3CDTF">2026-02-23T13:53:25Z</dcterms:modified>
</cp:coreProperties>
</file>